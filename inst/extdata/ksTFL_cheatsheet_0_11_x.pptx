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5119350" cy="10691813"/>
  <p:notesSz cx="10691813" cy="151193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6146"/>
    <p:restoredTop sz="97010"/>
  </p:normalViewPr>
  <p:slideViewPr>
    <p:cSldViewPr snapToGrid="0" snapToObjects="1">
      <p:cViewPr>
        <p:scale>
          <a:sx n="128" d="100"/>
          <a:sy n="128" d="100"/>
        </p:scale>
        <p:origin x="48" y="-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2270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row16384/ksTFL-releas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row16384.github.io/ksTFL-release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row16384/ksTFL-releas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19604" cy="9601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ksTFL</a:t>
            </a: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00" dirty="0">
                <a:solidFill>
                  <a:srgbClr val="99F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v0.11.x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29984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F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Framework for Clinical Tables, Figures, and Listings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76004" y="137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Workflow &amp; Building Blocks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022324" y="5303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F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2004" y="5303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1480" y="1143000"/>
            <a:ext cx="3429000" cy="5349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143000"/>
            <a:ext cx="3429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Shape 8"/>
          <p:cNvSpPr/>
          <p:nvPr/>
        </p:nvSpPr>
        <p:spPr>
          <a:xfrm>
            <a:off x="420624" y="1170432"/>
            <a:ext cx="3410712" cy="36576"/>
          </a:xfrm>
          <a:prstGeom prst="rect">
            <a:avLst/>
          </a:prstGeom>
          <a:solidFill>
            <a:srgbClr val="0D9488"/>
          </a:solidFill>
          <a:ln/>
        </p:spPr>
      </p: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10C6CBB3-A476-7C3A-108C-C4054ECE2152}"/>
              </a:ext>
            </a:extLst>
          </p:cNvPr>
          <p:cNvGrpSpPr/>
          <p:nvPr/>
        </p:nvGrpSpPr>
        <p:grpSpPr>
          <a:xfrm>
            <a:off x="502412" y="2100072"/>
            <a:ext cx="3209544" cy="2798064"/>
            <a:chOff x="521208" y="1271016"/>
            <a:chExt cx="3209544" cy="2798064"/>
          </a:xfrm>
        </p:grpSpPr>
        <p:sp>
          <p:nvSpPr>
            <p:cNvPr id="11" name="Shape 9"/>
            <p:cNvSpPr/>
            <p:nvPr/>
          </p:nvSpPr>
          <p:spPr>
            <a:xfrm>
              <a:off x="521208" y="1289304"/>
              <a:ext cx="91440" cy="274320"/>
            </a:xfrm>
            <a:prstGeom prst="rect">
              <a:avLst/>
            </a:prstGeom>
            <a:solidFill>
              <a:srgbClr val="0D9488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667512" y="1271016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D948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The Pipeline — From Data to DOCX</a:t>
              </a:r>
              <a:endParaRPr lang="en-US" sz="12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539496" y="1581912"/>
              <a:ext cx="3172968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750" dirty="0">
                  <a:solidFill>
                    <a:srgbClr val="475569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ksTFL separates metadata generation from rendering. You define structure &amp; styles in R; the built-in C++ engine produces submission-quality DOCX with deterministic HarfBuzz pagination.</a:t>
              </a:r>
              <a:endParaRPr lang="en-US" sz="75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685800" y="2075688"/>
              <a:ext cx="2880360" cy="310896"/>
            </a:xfrm>
            <a:prstGeom prst="rect">
              <a:avLst/>
            </a:prstGeom>
            <a:solidFill>
              <a:srgbClr val="F0F9FF"/>
            </a:solidFill>
            <a:ln w="10160">
              <a:solidFill>
                <a:srgbClr val="0EA5E9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685800" y="2075688"/>
              <a:ext cx="288036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E293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Data / Image</a:t>
              </a:r>
              <a:endParaRPr lang="en-US" sz="800" dirty="0"/>
            </a:p>
          </p:txBody>
        </p:sp>
        <p:sp>
          <p:nvSpPr>
            <p:cNvPr id="16" name="Shape 14"/>
            <p:cNvSpPr/>
            <p:nvPr/>
          </p:nvSpPr>
          <p:spPr>
            <a:xfrm rot="10800000">
              <a:off x="2052828" y="2404872"/>
              <a:ext cx="146304" cy="95098"/>
            </a:xfrm>
            <a:prstGeom prst="triangle">
              <a:avLst/>
            </a:prstGeom>
            <a:solidFill>
              <a:srgbClr val="0D9488"/>
            </a:solidFill>
            <a:ln/>
          </p:spPr>
        </p:sp>
        <p:sp>
          <p:nvSpPr>
            <p:cNvPr id="17" name="Shape 15"/>
            <p:cNvSpPr/>
            <p:nvPr/>
          </p:nvSpPr>
          <p:spPr>
            <a:xfrm>
              <a:off x="685800" y="2496312"/>
              <a:ext cx="2880360" cy="310896"/>
            </a:xfrm>
            <a:prstGeom prst="rect">
              <a:avLst/>
            </a:prstGeom>
            <a:solidFill>
              <a:srgbClr val="CCFBF1"/>
            </a:solidFill>
            <a:ln w="10160">
              <a:solidFill>
                <a:srgbClr val="0D9488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685800" y="2496312"/>
              <a:ext cx="288036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E293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create_table() / create_figure()</a:t>
              </a:r>
              <a:endParaRPr lang="en-US" sz="800" dirty="0"/>
            </a:p>
          </p:txBody>
        </p:sp>
        <p:sp>
          <p:nvSpPr>
            <p:cNvPr id="19" name="Shape 17"/>
            <p:cNvSpPr/>
            <p:nvPr/>
          </p:nvSpPr>
          <p:spPr>
            <a:xfrm rot="10800000">
              <a:off x="2052828" y="2825496"/>
              <a:ext cx="146304" cy="95098"/>
            </a:xfrm>
            <a:prstGeom prst="triangle">
              <a:avLst/>
            </a:prstGeom>
            <a:solidFill>
              <a:srgbClr val="0D9488"/>
            </a:solidFill>
            <a:ln/>
          </p:spPr>
        </p:sp>
        <p:sp>
          <p:nvSpPr>
            <p:cNvPr id="20" name="Shape 18"/>
            <p:cNvSpPr/>
            <p:nvPr/>
          </p:nvSpPr>
          <p:spPr>
            <a:xfrm>
              <a:off x="685800" y="2916936"/>
              <a:ext cx="2880360" cy="310896"/>
            </a:xfrm>
            <a:prstGeom prst="rect">
              <a:avLst/>
            </a:prstGeom>
            <a:solidFill>
              <a:srgbClr val="EEF2FF"/>
            </a:solidFill>
            <a:ln w="10160">
              <a:solidFill>
                <a:srgbClr val="6366F1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685800" y="2916936"/>
              <a:ext cx="288036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E293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TFL_spec  (customize)</a:t>
              </a:r>
              <a:endParaRPr lang="en-US" sz="800" dirty="0"/>
            </a:p>
          </p:txBody>
        </p:sp>
        <p:sp>
          <p:nvSpPr>
            <p:cNvPr id="22" name="Shape 20"/>
            <p:cNvSpPr/>
            <p:nvPr/>
          </p:nvSpPr>
          <p:spPr>
            <a:xfrm rot="10800000">
              <a:off x="2052828" y="3246120"/>
              <a:ext cx="146304" cy="95098"/>
            </a:xfrm>
            <a:prstGeom prst="triangle">
              <a:avLst/>
            </a:prstGeom>
            <a:solidFill>
              <a:srgbClr val="0D9488"/>
            </a:solidFill>
            <a:ln/>
          </p:spPr>
        </p:sp>
        <p:sp>
          <p:nvSpPr>
            <p:cNvPr id="23" name="Shape 21"/>
            <p:cNvSpPr/>
            <p:nvPr/>
          </p:nvSpPr>
          <p:spPr>
            <a:xfrm>
              <a:off x="685800" y="3337560"/>
              <a:ext cx="2880360" cy="310896"/>
            </a:xfrm>
            <a:prstGeom prst="rect">
              <a:avLst/>
            </a:prstGeom>
            <a:solidFill>
              <a:srgbClr val="F5F3FF"/>
            </a:solidFill>
            <a:ln w="10160">
              <a:solidFill>
                <a:srgbClr val="8B5CF6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685800" y="3337560"/>
              <a:ext cx="288036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E293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create_report()</a:t>
              </a:r>
              <a:endParaRPr lang="en-US" sz="800" dirty="0"/>
            </a:p>
          </p:txBody>
        </p:sp>
        <p:sp>
          <p:nvSpPr>
            <p:cNvPr id="25" name="Shape 23"/>
            <p:cNvSpPr/>
            <p:nvPr/>
          </p:nvSpPr>
          <p:spPr>
            <a:xfrm rot="10800000">
              <a:off x="2052828" y="3666744"/>
              <a:ext cx="146304" cy="95098"/>
            </a:xfrm>
            <a:prstGeom prst="triangle">
              <a:avLst/>
            </a:prstGeom>
            <a:solidFill>
              <a:srgbClr val="0D9488"/>
            </a:solidFill>
            <a:ln/>
          </p:spPr>
        </p:sp>
        <p:sp>
          <p:nvSpPr>
            <p:cNvPr id="26" name="Shape 24"/>
            <p:cNvSpPr/>
            <p:nvPr/>
          </p:nvSpPr>
          <p:spPr>
            <a:xfrm>
              <a:off x="685800" y="3758184"/>
              <a:ext cx="2880360" cy="310896"/>
            </a:xfrm>
            <a:prstGeom prst="rect">
              <a:avLst/>
            </a:prstGeom>
            <a:solidFill>
              <a:srgbClr val="ECFDF5"/>
            </a:solidFill>
            <a:ln w="10160">
              <a:solidFill>
                <a:srgbClr val="10B981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685800" y="3758184"/>
              <a:ext cx="288036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E293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write_doc()  →  .docx</a:t>
              </a:r>
              <a:endParaRPr lang="en-US" sz="800" dirty="0"/>
            </a:p>
          </p:txBody>
        </p:sp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BFB5D5FC-A458-1E12-1937-826A70C8E60F}"/>
              </a:ext>
            </a:extLst>
          </p:cNvPr>
          <p:cNvGrpSpPr/>
          <p:nvPr/>
        </p:nvGrpSpPr>
        <p:grpSpPr>
          <a:xfrm>
            <a:off x="539496" y="5002224"/>
            <a:ext cx="3209544" cy="1338683"/>
            <a:chOff x="521208" y="4233672"/>
            <a:chExt cx="3209544" cy="1338683"/>
          </a:xfrm>
        </p:grpSpPr>
        <p:sp>
          <p:nvSpPr>
            <p:cNvPr id="28" name="Shape 26"/>
            <p:cNvSpPr/>
            <p:nvPr/>
          </p:nvSpPr>
          <p:spPr>
            <a:xfrm>
              <a:off x="521208" y="4251960"/>
              <a:ext cx="91440" cy="274320"/>
            </a:xfrm>
            <a:prstGeom prst="rect">
              <a:avLst/>
            </a:prstGeom>
            <a:solidFill>
              <a:srgbClr val="6366F1"/>
            </a:solidFill>
            <a:ln/>
          </p:spPr>
        </p:sp>
        <p:sp>
          <p:nvSpPr>
            <p:cNvPr id="29" name="Text 27"/>
            <p:cNvSpPr/>
            <p:nvPr/>
          </p:nvSpPr>
          <p:spPr>
            <a:xfrm>
              <a:off x="667512" y="423367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6366F1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Quick Example</a:t>
              </a:r>
              <a:endParaRPr lang="en-US" sz="1200" dirty="0"/>
            </a:p>
          </p:txBody>
        </p:sp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id="{A3B502C7-DFFC-CDCA-6E11-EC9DE5ABC37A}"/>
                </a:ext>
              </a:extLst>
            </p:cNvPr>
            <p:cNvGrpSpPr/>
            <p:nvPr/>
          </p:nvGrpSpPr>
          <p:grpSpPr>
            <a:xfrm>
              <a:off x="539496" y="4562856"/>
              <a:ext cx="3172968" cy="1009499"/>
              <a:chOff x="539496" y="4562856"/>
              <a:chExt cx="3172968" cy="1009499"/>
            </a:xfrm>
          </p:grpSpPr>
          <p:sp>
            <p:nvSpPr>
              <p:cNvPr id="30" name="Shape 28"/>
              <p:cNvSpPr/>
              <p:nvPr/>
            </p:nvSpPr>
            <p:spPr>
              <a:xfrm>
                <a:off x="539496" y="4562856"/>
                <a:ext cx="3172968" cy="1009499"/>
              </a:xfrm>
              <a:prstGeom prst="rect">
                <a:avLst/>
              </a:prstGeom>
              <a:solidFill>
                <a:srgbClr val="F1F5F9"/>
              </a:solidFill>
              <a:ln w="3810">
                <a:solidFill>
                  <a:srgbClr val="E2E8F0"/>
                </a:solidFill>
                <a:prstDash val="solid"/>
              </a:ln>
            </p:spPr>
          </p:sp>
          <p:sp>
            <p:nvSpPr>
              <p:cNvPr id="31" name="Text 29"/>
              <p:cNvSpPr/>
              <p:nvPr/>
            </p:nvSpPr>
            <p:spPr>
              <a:xfrm>
                <a:off x="630936" y="4617720"/>
                <a:ext cx="2990088" cy="15087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50" dirty="0">
                    <a:solidFill>
                      <a:srgbClr val="8B5CF6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library</a:t>
                </a:r>
                <a:r>
                  <a:rPr lang="en-US" sz="750" dirty="0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(ksTFL)</a:t>
                </a:r>
                <a:endParaRPr lang="en-US" sz="750" dirty="0"/>
              </a:p>
            </p:txBody>
          </p:sp>
          <p:sp>
            <p:nvSpPr>
              <p:cNvPr id="32" name="Text 30"/>
              <p:cNvSpPr/>
              <p:nvPr/>
            </p:nvSpPr>
            <p:spPr>
              <a:xfrm>
                <a:off x="630936" y="4768596"/>
                <a:ext cx="2990088" cy="15087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50" dirty="0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spec &lt;- </a:t>
                </a:r>
                <a:r>
                  <a:rPr lang="en-US" sz="750" dirty="0">
                    <a:solidFill>
                      <a:srgbClr val="0891B2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create_table</a:t>
                </a:r>
                <a:r>
                  <a:rPr lang="en-US" sz="750" dirty="0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(mtcars, cols = </a:t>
                </a:r>
                <a:r>
                  <a:rPr lang="en-US" sz="750" dirty="0">
                    <a:solidFill>
                      <a:srgbClr val="8B5CF6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c</a:t>
                </a:r>
                <a:r>
                  <a:rPr lang="en-US" sz="750" dirty="0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(mpg, cyl, hp))</a:t>
                </a:r>
                <a:endParaRPr lang="en-US" sz="750" dirty="0"/>
              </a:p>
            </p:txBody>
          </p:sp>
          <p:sp>
            <p:nvSpPr>
              <p:cNvPr id="33" name="Text 31"/>
              <p:cNvSpPr/>
              <p:nvPr/>
            </p:nvSpPr>
            <p:spPr>
              <a:xfrm>
                <a:off x="630936" y="4919472"/>
                <a:ext cx="2990088" cy="15087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50" dirty="0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spec &lt;- </a:t>
                </a:r>
                <a:r>
                  <a:rPr lang="en-US" sz="750" dirty="0">
                    <a:solidFill>
                      <a:srgbClr val="0891B2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add_title</a:t>
                </a:r>
                <a:r>
                  <a:rPr lang="en-US" sz="750" dirty="0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(spec, </a:t>
                </a:r>
                <a:r>
                  <a:rPr lang="en-US" sz="750" dirty="0">
                    <a:solidFill>
                      <a:srgbClr val="05966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"Motor Trends"</a:t>
                </a:r>
                <a:r>
                  <a:rPr lang="en-US" sz="750" dirty="0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)</a:t>
                </a:r>
                <a:endParaRPr lang="en-US" sz="750" dirty="0"/>
              </a:p>
            </p:txBody>
          </p:sp>
          <p:sp>
            <p:nvSpPr>
              <p:cNvPr id="34" name="Text 32"/>
              <p:cNvSpPr/>
              <p:nvPr/>
            </p:nvSpPr>
            <p:spPr>
              <a:xfrm>
                <a:off x="630936" y="5070348"/>
                <a:ext cx="2990088" cy="15087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50" dirty="0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spec &lt;- </a:t>
                </a:r>
                <a:r>
                  <a:rPr lang="en-US" sz="750" dirty="0">
                    <a:solidFill>
                      <a:srgbClr val="0891B2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add_footnote</a:t>
                </a:r>
                <a:r>
                  <a:rPr lang="en-US" sz="750" dirty="0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(spec, </a:t>
                </a:r>
                <a:r>
                  <a:rPr lang="en-US" sz="750" dirty="0">
                    <a:solidFill>
                      <a:srgbClr val="05966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"Data: 1974."</a:t>
                </a:r>
                <a:r>
                  <a:rPr lang="en-US" sz="750" dirty="0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)</a:t>
                </a:r>
                <a:endParaRPr lang="en-US" sz="750" dirty="0"/>
              </a:p>
            </p:txBody>
          </p:sp>
          <p:sp>
            <p:nvSpPr>
              <p:cNvPr id="35" name="Text 33"/>
              <p:cNvSpPr/>
              <p:nvPr/>
            </p:nvSpPr>
            <p:spPr>
              <a:xfrm>
                <a:off x="630936" y="5221224"/>
                <a:ext cx="2990088" cy="15087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50" dirty="0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report &lt;- </a:t>
                </a:r>
                <a:r>
                  <a:rPr lang="en-US" sz="750" dirty="0">
                    <a:solidFill>
                      <a:srgbClr val="0891B2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create_report</a:t>
                </a:r>
                <a:r>
                  <a:rPr lang="en-US" sz="750" dirty="0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(spec)</a:t>
                </a:r>
                <a:endParaRPr lang="en-US" sz="750" dirty="0"/>
              </a:p>
            </p:txBody>
          </p:sp>
          <p:sp>
            <p:nvSpPr>
              <p:cNvPr id="36" name="Text 34"/>
              <p:cNvSpPr/>
              <p:nvPr/>
            </p:nvSpPr>
            <p:spPr>
              <a:xfrm>
                <a:off x="630936" y="5372100"/>
                <a:ext cx="2990088" cy="15087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50" dirty="0">
                    <a:solidFill>
                      <a:srgbClr val="0891B2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write_doc</a:t>
                </a:r>
                <a:r>
                  <a:rPr lang="en-US" sz="750" dirty="0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(report, name = </a:t>
                </a:r>
                <a:r>
                  <a:rPr lang="en-US" sz="750" dirty="0">
                    <a:solidFill>
                      <a:srgbClr val="05966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"</a:t>
                </a:r>
                <a:r>
                  <a:rPr lang="en-US" sz="750" dirty="0" err="1">
                    <a:solidFill>
                      <a:srgbClr val="05966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my_table</a:t>
                </a:r>
                <a:r>
                  <a:rPr lang="en-US" sz="750" dirty="0">
                    <a:solidFill>
                      <a:srgbClr val="05966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")</a:t>
                </a:r>
                <a:endParaRPr lang="en-US" sz="750" dirty="0"/>
              </a:p>
            </p:txBody>
          </p:sp>
        </p:grpSp>
      </p:grpSp>
      <p:sp>
        <p:nvSpPr>
          <p:cNvPr id="38" name="Shape 36"/>
          <p:cNvSpPr/>
          <p:nvPr/>
        </p:nvSpPr>
        <p:spPr>
          <a:xfrm>
            <a:off x="411480" y="6629400"/>
            <a:ext cx="3429000" cy="366948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21208" y="6720840"/>
            <a:ext cx="9144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" y="670255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Spec Types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39496" y="7031736"/>
            <a:ext cx="3172968" cy="676656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2648" y="7086600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create_table(data, cols)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12648" y="7360920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 from data frame; cols with tidyselect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539496" y="7836408"/>
            <a:ext cx="3172968" cy="676656"/>
          </a:xfrm>
          <a:prstGeom prst="rect">
            <a:avLst/>
          </a:prstGeom>
          <a:solidFill>
            <a:srgbClr val="F0F9FF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648" y="7891272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create_figure(path_or_ggplot)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12648" y="816559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Figure from file path or ggplot2 object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539496" y="8641080"/>
            <a:ext cx="3172968" cy="676656"/>
          </a:xfrm>
          <a:prstGeom prst="rect">
            <a:avLst/>
          </a:prstGeom>
          <a:solidFill>
            <a:srgbClr val="F5F3FF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2648" y="8695944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create_text()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12648" y="8970264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Narrative text; add content with add_body_text()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57784" y="9500616"/>
            <a:ext cx="3136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Two-step workflow: save_report() → replay_report() lets you inspect JSON before rendering. Use </a:t>
            </a:r>
            <a:r>
              <a:rPr lang="en-US" sz="7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write_doc() </a:t>
            </a: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one-step production rendering.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4034028" y="1143000"/>
            <a:ext cx="34290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143756" y="1234440"/>
            <a:ext cx="9144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3" name="Text 51"/>
          <p:cNvSpPr/>
          <p:nvPr/>
        </p:nvSpPr>
        <p:spPr>
          <a:xfrm>
            <a:off x="4290060" y="121615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Customize Columns — define_cols()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162044" y="1527048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</a:t>
            </a:r>
            <a:r>
              <a:rPr lang="en-US" sz="7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create_table()</a:t>
            </a: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customize column properties. Supports single, batch (recycled), and per-column values.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162044" y="1819656"/>
            <a:ext cx="3172968" cy="146761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53484" y="187452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Single column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253484" y="202539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define_cols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mpg,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253484" y="217627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"MPG"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type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"numeric"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4253484" y="232714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format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"%.1f"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colWidth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"20%"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4253484" y="247802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4253484" y="262890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Batch: same value recycled to all cols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4253484" y="277977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define_cols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(mpg, cyl, hp),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4253484" y="293065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 = 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"MPG"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"Cyl"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"HP"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4253484" y="308152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"numeric"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format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"%.0f"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2044" y="3378708"/>
          <a:ext cx="3172968" cy="877824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7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Parameter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Purpose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label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Column header text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type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"numeric" or "string"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format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Format string (e.g., "%.2f")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6" name="Shape 63"/>
          <p:cNvSpPr/>
          <p:nvPr/>
        </p:nvSpPr>
        <p:spPr>
          <a:xfrm>
            <a:off x="4034028" y="4297680"/>
            <a:ext cx="34290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4143756" y="4389120"/>
            <a:ext cx="9144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8" name="Text 65"/>
          <p:cNvSpPr/>
          <p:nvPr/>
        </p:nvSpPr>
        <p:spPr>
          <a:xfrm>
            <a:off x="4290060" y="437083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Spanning Headers — add_span_header()</a:t>
            </a:r>
            <a:endParaRPr lang="en-US" sz="1200" dirty="0"/>
          </a:p>
        </p:txBody>
      </p:sp>
      <p:sp>
        <p:nvSpPr>
          <p:cNvPr id="69" name="Text 66"/>
          <p:cNvSpPr/>
          <p:nvPr/>
        </p:nvSpPr>
        <p:spPr>
          <a:xfrm>
            <a:off x="4162044" y="4663440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 columns under common headers. Uses tidyselect: ranges, starts_with(), contains(), negation (-).</a:t>
            </a:r>
            <a:endParaRPr lang="en-US" sz="750" dirty="0"/>
          </a:p>
        </p:txBody>
      </p:sp>
      <p:sp>
        <p:nvSpPr>
          <p:cNvPr id="70" name="Shape 67"/>
          <p:cNvSpPr/>
          <p:nvPr/>
        </p:nvSpPr>
        <p:spPr>
          <a:xfrm>
            <a:off x="4162044" y="4937760"/>
            <a:ext cx="3172968" cy="10149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4253484" y="499262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add_span_header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</a:t>
            </a:r>
            <a:endParaRPr lang="en-US" sz="750" dirty="0"/>
          </a:p>
        </p:txBody>
      </p:sp>
      <p:sp>
        <p:nvSpPr>
          <p:cNvPr id="72" name="Text 69"/>
          <p:cNvSpPr/>
          <p:nvPr/>
        </p:nvSpPr>
        <p:spPr>
          <a:xfrm>
            <a:off x="4253484" y="514350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cols = 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(mpg, cyl, hp),</a:t>
            </a:r>
            <a:endParaRPr lang="en-US" sz="750" dirty="0"/>
          </a:p>
        </p:txBody>
      </p:sp>
      <p:sp>
        <p:nvSpPr>
          <p:cNvPr id="73" name="Text 70"/>
          <p:cNvSpPr/>
          <p:nvPr/>
        </p:nvSpPr>
        <p:spPr>
          <a:xfrm>
            <a:off x="4253484" y="529437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"Engine"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74" name="Text 71"/>
          <p:cNvSpPr/>
          <p:nvPr/>
        </p:nvSpPr>
        <p:spPr>
          <a:xfrm>
            <a:off x="4253484" y="544525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stubOrder = 1,</a:t>
            </a:r>
            <a:endParaRPr lang="en-US" sz="750" dirty="0"/>
          </a:p>
        </p:txBody>
      </p:sp>
      <p:sp>
        <p:nvSpPr>
          <p:cNvPr id="75" name="Text 72"/>
          <p:cNvSpPr/>
          <p:nvPr/>
        </p:nvSpPr>
        <p:spPr>
          <a:xfrm>
            <a:off x="4253484" y="559612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labelStyleRef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"stub_style"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76" name="Text 73"/>
          <p:cNvSpPr/>
          <p:nvPr/>
        </p:nvSpPr>
        <p:spPr>
          <a:xfrm>
            <a:off x="4253484" y="574700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Tidyselect: starts_with(), -col</a:t>
            </a:r>
            <a:endParaRPr lang="en-US" sz="750" dirty="0"/>
          </a:p>
        </p:txBody>
      </p:sp>
      <p:sp>
        <p:nvSpPr>
          <p:cNvPr id="77" name="Shape 74"/>
          <p:cNvSpPr/>
          <p:nvPr/>
        </p:nvSpPr>
        <p:spPr>
          <a:xfrm>
            <a:off x="4034028" y="6263640"/>
            <a:ext cx="34290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8" name="Shape 75"/>
          <p:cNvSpPr/>
          <p:nvPr/>
        </p:nvSpPr>
        <p:spPr>
          <a:xfrm>
            <a:off x="4143756" y="6355080"/>
            <a:ext cx="9144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9" name="Text 76"/>
          <p:cNvSpPr/>
          <p:nvPr/>
        </p:nvSpPr>
        <p:spPr>
          <a:xfrm>
            <a:off x="4290060" y="633679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Layers</a:t>
            </a:r>
            <a:endParaRPr lang="en-US" sz="1200" dirty="0"/>
          </a:p>
        </p:txBody>
      </p:sp>
      <p:sp>
        <p:nvSpPr>
          <p:cNvPr id="80" name="Shape 77"/>
          <p:cNvSpPr/>
          <p:nvPr/>
        </p:nvSpPr>
        <p:spPr>
          <a:xfrm>
            <a:off x="4162044" y="6611112"/>
            <a:ext cx="3172968" cy="146761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4253484" y="666597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add_title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"Demographics"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82" name="Text 79"/>
          <p:cNvSpPr/>
          <p:nvPr/>
        </p:nvSpPr>
        <p:spPr>
          <a:xfrm>
            <a:off x="4253484" y="681685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add_subtitle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"Analysis"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83" name="Text 80"/>
          <p:cNvSpPr/>
          <p:nvPr/>
        </p:nvSpPr>
        <p:spPr>
          <a:xfrm>
            <a:off x="4253484" y="696772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add_footnote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"Source: DB."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84" name="Text 81"/>
          <p:cNvSpPr/>
          <p:nvPr/>
        </p:nvSpPr>
        <p:spPr>
          <a:xfrm>
            <a:off x="4253484" y="711860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85" name="Text 82"/>
          <p:cNvSpPr/>
          <p:nvPr/>
        </p:nvSpPr>
        <p:spPr>
          <a:xfrm>
            <a:off x="4253484" y="726948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Header/footer: left / center / right</a:t>
            </a:r>
            <a:endParaRPr lang="en-US" sz="750" dirty="0"/>
          </a:p>
        </p:txBody>
      </p:sp>
      <p:sp>
        <p:nvSpPr>
          <p:cNvPr id="86" name="Text 83"/>
          <p:cNvSpPr/>
          <p:nvPr/>
        </p:nvSpPr>
        <p:spPr>
          <a:xfrm>
            <a:off x="4253484" y="742035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add_header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"Study ABC"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87" name="Text 84"/>
          <p:cNvSpPr/>
          <p:nvPr/>
        </p:nvSpPr>
        <p:spPr>
          <a:xfrm>
            <a:off x="4253484" y="757123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"CONFIDENTIAL"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"Page {PAGE}"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88" name="Text 85"/>
          <p:cNvSpPr/>
          <p:nvPr/>
        </p:nvSpPr>
        <p:spPr>
          <a:xfrm>
            <a:off x="4253484" y="772210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add_footer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"Firma"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89" name="Text 86"/>
          <p:cNvSpPr/>
          <p:nvPr/>
        </p:nvSpPr>
        <p:spPr>
          <a:xfrm>
            <a:off x="4253484" y="787298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"Locked DB"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"2025"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90" name="Text 87"/>
          <p:cNvSpPr/>
          <p:nvPr/>
        </p:nvSpPr>
        <p:spPr>
          <a:xfrm>
            <a:off x="4162044" y="8115300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Placeholders: {PAGE} and {NUMPAGES} filled by renderer. add_body_text() for narrative text. Multiple footnotes stack.</a:t>
            </a:r>
            <a:endParaRPr lang="en-US" sz="700" dirty="0"/>
          </a:p>
        </p:txBody>
      </p:sp>
      <p:sp>
        <p:nvSpPr>
          <p:cNvPr id="91" name="Shape 88"/>
          <p:cNvSpPr/>
          <p:nvPr/>
        </p:nvSpPr>
        <p:spPr>
          <a:xfrm>
            <a:off x="4034028" y="8503920"/>
            <a:ext cx="3429000" cy="179496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2" name="Shape 89"/>
          <p:cNvSpPr/>
          <p:nvPr/>
        </p:nvSpPr>
        <p:spPr>
          <a:xfrm>
            <a:off x="4143756" y="8595360"/>
            <a:ext cx="9144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3" name="Text 90"/>
          <p:cNvSpPr/>
          <p:nvPr/>
        </p:nvSpPr>
        <p:spPr>
          <a:xfrm>
            <a:off x="4290060" y="857707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Layout &amp; Templates</a:t>
            </a:r>
            <a:endParaRPr lang="en-US" sz="1200" dirty="0"/>
          </a:p>
        </p:txBody>
      </p:sp>
      <p:sp>
        <p:nvSpPr>
          <p:cNvPr id="94" name="Shape 91"/>
          <p:cNvSpPr/>
          <p:nvPr/>
        </p:nvSpPr>
        <p:spPr>
          <a:xfrm>
            <a:off x="4162044" y="8851392"/>
            <a:ext cx="3172968" cy="131673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4253484" y="890625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set_page_style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(page =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p_page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750" dirty="0"/>
          </a:p>
        </p:txBody>
      </p:sp>
      <p:sp>
        <p:nvSpPr>
          <p:cNvPr id="96" name="Text 93"/>
          <p:cNvSpPr/>
          <p:nvPr/>
        </p:nvSpPr>
        <p:spPr>
          <a:xfrm>
            <a:off x="4253484" y="905713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size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"A4"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</a:t>
            </a: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 "Letter", "Legal"</a:t>
            </a:r>
            <a:endParaRPr lang="en-US" sz="750" dirty="0"/>
          </a:p>
        </p:txBody>
      </p:sp>
      <p:sp>
        <p:nvSpPr>
          <p:cNvPr id="97" name="Text 94"/>
          <p:cNvSpPr/>
          <p:nvPr/>
        </p:nvSpPr>
        <p:spPr>
          <a:xfrm>
            <a:off x="4253484" y="920800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orientation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"landscape"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98" name="Text 95"/>
          <p:cNvSpPr/>
          <p:nvPr/>
        </p:nvSpPr>
        <p:spPr>
          <a:xfrm>
            <a:off x="4253484" y="935888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margins =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p_margins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750" dirty="0"/>
          </a:p>
        </p:txBody>
      </p:sp>
      <p:sp>
        <p:nvSpPr>
          <p:cNvPr id="99" name="Text 96"/>
          <p:cNvSpPr/>
          <p:nvPr/>
        </p:nvSpPr>
        <p:spPr>
          <a:xfrm>
            <a:off x="4253484" y="950976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top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"1in"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bottom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"1in"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)))</a:t>
            </a:r>
            <a:endParaRPr lang="en-US" sz="750" dirty="0"/>
          </a:p>
        </p:txBody>
      </p:sp>
      <p:sp>
        <p:nvSpPr>
          <p:cNvPr id="100" name="Text 97"/>
          <p:cNvSpPr/>
          <p:nvPr/>
        </p:nvSpPr>
        <p:spPr>
          <a:xfrm>
            <a:off x="4253484" y="966063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01" name="Text 98"/>
          <p:cNvSpPr/>
          <p:nvPr/>
        </p:nvSpPr>
        <p:spPr>
          <a:xfrm>
            <a:off x="4253484" y="981151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 built-in templates</a:t>
            </a:r>
            <a:endParaRPr lang="en-US" sz="750" dirty="0"/>
          </a:p>
        </p:txBody>
      </p:sp>
      <p:sp>
        <p:nvSpPr>
          <p:cNvPr id="102" name="Text 99"/>
          <p:cNvSpPr/>
          <p:nvPr/>
        </p:nvSpPr>
        <p:spPr>
          <a:xfrm>
            <a:off x="4253484" y="996238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set_page_style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(docTemplate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"Navy_Pro"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103" name="Shape 100"/>
          <p:cNvSpPr/>
          <p:nvPr/>
        </p:nvSpPr>
        <p:spPr>
          <a:xfrm>
            <a:off x="7656576" y="1143000"/>
            <a:ext cx="34290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4" name="Shape 101"/>
          <p:cNvSpPr/>
          <p:nvPr/>
        </p:nvSpPr>
        <p:spPr>
          <a:xfrm>
            <a:off x="7766304" y="1234440"/>
            <a:ext cx="91440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5" name="Text 102"/>
          <p:cNvSpPr/>
          <p:nvPr/>
        </p:nvSpPr>
        <p:spPr>
          <a:xfrm>
            <a:off x="7912608" y="121615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Style Primitives — s_*() Helpers</a:t>
            </a:r>
            <a:endParaRPr lang="en-US" sz="1200" dirty="0"/>
          </a:p>
        </p:txBody>
      </p:sp>
      <p:sp>
        <p:nvSpPr>
          <p:cNvPr id="106" name="Text 103"/>
          <p:cNvSpPr/>
          <p:nvPr/>
        </p:nvSpPr>
        <p:spPr>
          <a:xfrm>
            <a:off x="7784592" y="1508760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style helpers must be used inside add_style(). They validate params and raise informative errors.</a:t>
            </a:r>
            <a:endParaRPr lang="en-US" sz="750" dirty="0"/>
          </a:p>
        </p:txBody>
      </p:sp>
      <p:sp>
        <p:nvSpPr>
          <p:cNvPr id="107" name="Shape 104"/>
          <p:cNvSpPr/>
          <p:nvPr/>
        </p:nvSpPr>
        <p:spPr>
          <a:xfrm>
            <a:off x="7784592" y="1783080"/>
            <a:ext cx="3172968" cy="219456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108" name="Text 105"/>
          <p:cNvSpPr/>
          <p:nvPr/>
        </p:nvSpPr>
        <p:spPr>
          <a:xfrm>
            <a:off x="7839456" y="178308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s_font(font_name, font_size, bold, italic, underline, color, highlight)</a:t>
            </a:r>
            <a:endParaRPr lang="en-US" sz="700" dirty="0"/>
          </a:p>
        </p:txBody>
      </p:sp>
      <p:sp>
        <p:nvSpPr>
          <p:cNvPr id="109" name="Shape 106"/>
          <p:cNvSpPr/>
          <p:nvPr/>
        </p:nvSpPr>
        <p:spPr>
          <a:xfrm>
            <a:off x="7784592" y="2075688"/>
            <a:ext cx="3172968" cy="219456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10" name="Text 107"/>
          <p:cNvSpPr/>
          <p:nvPr/>
        </p:nvSpPr>
        <p:spPr>
          <a:xfrm>
            <a:off x="7839456" y="207568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s_paragraph(alignment, spacing, indents)   "left"|"right"|"center"|"justify"</a:t>
            </a:r>
            <a:endParaRPr lang="en-US" sz="700" dirty="0"/>
          </a:p>
        </p:txBody>
      </p:sp>
      <p:sp>
        <p:nvSpPr>
          <p:cNvPr id="111" name="Shape 108"/>
          <p:cNvSpPr/>
          <p:nvPr/>
        </p:nvSpPr>
        <p:spPr>
          <a:xfrm>
            <a:off x="7967472" y="2331720"/>
            <a:ext cx="2807208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dash"/>
          </a:ln>
        </p:spPr>
      </p:sp>
      <p:sp>
        <p:nvSpPr>
          <p:cNvPr id="112" name="Text 109"/>
          <p:cNvSpPr/>
          <p:nvPr/>
        </p:nvSpPr>
        <p:spPr>
          <a:xfrm>
            <a:off x="7839456" y="233172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s_spacing(before, after, line_spacing)</a:t>
            </a:r>
            <a:endParaRPr lang="en-US" sz="650" dirty="0"/>
          </a:p>
        </p:txBody>
      </p:sp>
      <p:sp>
        <p:nvSpPr>
          <p:cNvPr id="113" name="Shape 110"/>
          <p:cNvSpPr/>
          <p:nvPr/>
        </p:nvSpPr>
        <p:spPr>
          <a:xfrm>
            <a:off x="7967472" y="2560320"/>
            <a:ext cx="2807208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dash"/>
          </a:ln>
        </p:spPr>
      </p:sp>
      <p:sp>
        <p:nvSpPr>
          <p:cNvPr id="114" name="Text 111"/>
          <p:cNvSpPr/>
          <p:nvPr/>
        </p:nvSpPr>
        <p:spPr>
          <a:xfrm>
            <a:off x="7839456" y="256032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s_indents(left, right, first_line)</a:t>
            </a:r>
            <a:endParaRPr lang="en-US" sz="650" dirty="0"/>
          </a:p>
        </p:txBody>
      </p:sp>
      <p:sp>
        <p:nvSpPr>
          <p:cNvPr id="115" name="Shape 112"/>
          <p:cNvSpPr/>
          <p:nvPr/>
        </p:nvSpPr>
        <p:spPr>
          <a:xfrm>
            <a:off x="7784592" y="2834640"/>
            <a:ext cx="3172968" cy="219456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16" name="Text 113"/>
          <p:cNvSpPr/>
          <p:nvPr/>
        </p:nvSpPr>
        <p:spPr>
          <a:xfrm>
            <a:off x="7839456" y="283464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s_table_style(background_color, row_height, vertical_alignment, borders)</a:t>
            </a:r>
            <a:endParaRPr lang="en-US" sz="700" dirty="0"/>
          </a:p>
        </p:txBody>
      </p:sp>
      <p:sp>
        <p:nvSpPr>
          <p:cNvPr id="117" name="Shape 114"/>
          <p:cNvSpPr/>
          <p:nvPr/>
        </p:nvSpPr>
        <p:spPr>
          <a:xfrm>
            <a:off x="7967472" y="3090672"/>
            <a:ext cx="2807208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dash"/>
          </a:ln>
        </p:spPr>
      </p:sp>
      <p:sp>
        <p:nvSpPr>
          <p:cNvPr id="118" name="Text 115"/>
          <p:cNvSpPr/>
          <p:nvPr/>
        </p:nvSpPr>
        <p:spPr>
          <a:xfrm>
            <a:off x="7839456" y="309067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s_borders(top, bottom, left, right)  each → s_border()</a:t>
            </a:r>
            <a:endParaRPr lang="en-US" sz="650" dirty="0"/>
          </a:p>
        </p:txBody>
      </p:sp>
      <p:sp>
        <p:nvSpPr>
          <p:cNvPr id="119" name="Text 116"/>
          <p:cNvSpPr/>
          <p:nvPr/>
        </p:nvSpPr>
        <p:spPr>
          <a:xfrm>
            <a:off x="7784592" y="3346704"/>
            <a:ext cx="3172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s_spacing()/s_indents() nest in s_paragraph(). s_borders()/s_border() nest in s_table_style(). s_* helpers only work inside add_style().</a:t>
            </a:r>
            <a:endParaRPr lang="en-US" sz="700" dirty="0"/>
          </a:p>
        </p:txBody>
      </p:sp>
      <p:sp>
        <p:nvSpPr>
          <p:cNvPr id="120" name="Shape 117"/>
          <p:cNvSpPr/>
          <p:nvPr/>
        </p:nvSpPr>
        <p:spPr>
          <a:xfrm>
            <a:off x="7656576" y="4297680"/>
            <a:ext cx="342900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1" name="Shape 118"/>
          <p:cNvSpPr/>
          <p:nvPr/>
        </p:nvSpPr>
        <p:spPr>
          <a:xfrm>
            <a:off x="7766304" y="4389120"/>
            <a:ext cx="91440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2" name="Text 119"/>
          <p:cNvSpPr/>
          <p:nvPr/>
        </p:nvSpPr>
        <p:spPr>
          <a:xfrm>
            <a:off x="7912608" y="437083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Declaring &amp; Applying Styles</a:t>
            </a:r>
            <a:endParaRPr lang="en-US" sz="1200" dirty="0"/>
          </a:p>
        </p:txBody>
      </p:sp>
      <p:sp>
        <p:nvSpPr>
          <p:cNvPr id="123" name="Shape 120"/>
          <p:cNvSpPr/>
          <p:nvPr/>
        </p:nvSpPr>
        <p:spPr>
          <a:xfrm>
            <a:off x="7784592" y="4645152"/>
            <a:ext cx="3172968" cy="70075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4" name="Text 121"/>
          <p:cNvSpPr/>
          <p:nvPr/>
        </p:nvSpPr>
        <p:spPr>
          <a:xfrm>
            <a:off x="7876032" y="470001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add_style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id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"tbl_hdr"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125" name="Text 122"/>
          <p:cNvSpPr/>
          <p:nvPr/>
        </p:nvSpPr>
        <p:spPr>
          <a:xfrm>
            <a:off x="7876032" y="485089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s_font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(bold = 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color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"#FFF"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750" dirty="0"/>
          </a:p>
        </p:txBody>
      </p:sp>
      <p:sp>
        <p:nvSpPr>
          <p:cNvPr id="126" name="Text 123"/>
          <p:cNvSpPr/>
          <p:nvPr/>
        </p:nvSpPr>
        <p:spPr>
          <a:xfrm>
            <a:off x="7876032" y="500176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s_paragraph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(alignment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"center"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750" dirty="0"/>
          </a:p>
        </p:txBody>
      </p:sp>
      <p:sp>
        <p:nvSpPr>
          <p:cNvPr id="127" name="Text 124"/>
          <p:cNvSpPr/>
          <p:nvPr/>
        </p:nvSpPr>
        <p:spPr>
          <a:xfrm>
            <a:off x="7876032" y="515264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 err="1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s_table_style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5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background_color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"#003366"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750" dirty="0"/>
          </a:p>
        </p:txBody>
      </p:sp>
      <p:sp>
        <p:nvSpPr>
          <p:cNvPr id="128" name="Text 125"/>
          <p:cNvSpPr/>
          <p:nvPr/>
        </p:nvSpPr>
        <p:spPr>
          <a:xfrm>
            <a:off x="7876032" y="530352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750" dirty="0"/>
          </a:p>
        </p:txBody>
      </p:sp>
      <p:graphicFrame>
        <p:nvGraphicFramePr>
          <p:cNvPr id="13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1965754"/>
              </p:ext>
            </p:extLst>
          </p:nvPr>
        </p:nvGraphicFramePr>
        <p:xfrm>
          <a:off x="7784592" y="5369814"/>
          <a:ext cx="3172968" cy="1316736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4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Context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Parameter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Used In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Column headers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labelStyleRef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define_cols()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Cell values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valueStyleRef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define_cols()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Span headers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labelStyleRef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add_span_header()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Titles/Notes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styleRef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add_title(), etc.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Conditional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styleRef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c_style()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1" name="Shape 127"/>
          <p:cNvSpPr/>
          <p:nvPr/>
        </p:nvSpPr>
        <p:spPr>
          <a:xfrm>
            <a:off x="7656576" y="6858000"/>
            <a:ext cx="34290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2" name="Shape 128"/>
          <p:cNvSpPr/>
          <p:nvPr/>
        </p:nvSpPr>
        <p:spPr>
          <a:xfrm>
            <a:off x="7766304" y="6949440"/>
            <a:ext cx="91440" cy="2743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3" name="Text 129"/>
          <p:cNvSpPr/>
          <p:nvPr/>
        </p:nvSpPr>
        <p:spPr>
          <a:xfrm>
            <a:off x="7912608" y="693115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Combining Styles — f_combine()</a:t>
            </a:r>
            <a:endParaRPr lang="en-US" sz="1200" dirty="0"/>
          </a:p>
        </p:txBody>
      </p:sp>
      <p:sp>
        <p:nvSpPr>
          <p:cNvPr id="134" name="Text 130"/>
          <p:cNvSpPr/>
          <p:nvPr/>
        </p:nvSpPr>
        <p:spPr>
          <a:xfrm>
            <a:off x="7784592" y="7205472"/>
            <a:ext cx="3172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Merge multiple styles on-the-fly without pre-defining a combined style. create_report() auto-consolidates.</a:t>
            </a:r>
            <a:endParaRPr lang="en-US" sz="750" dirty="0"/>
          </a:p>
        </p:txBody>
      </p:sp>
      <p:sp>
        <p:nvSpPr>
          <p:cNvPr id="135" name="Shape 131"/>
          <p:cNvSpPr/>
          <p:nvPr/>
        </p:nvSpPr>
        <p:spPr>
          <a:xfrm>
            <a:off x="7784592" y="7461504"/>
            <a:ext cx="3172968" cy="71323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6" name="Text 132"/>
          <p:cNvSpPr/>
          <p:nvPr/>
        </p:nvSpPr>
        <p:spPr>
          <a:xfrm>
            <a:off x="7876032" y="751636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define_cols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mpg,</a:t>
            </a:r>
            <a:endParaRPr lang="en-US" sz="750" dirty="0"/>
          </a:p>
        </p:txBody>
      </p:sp>
      <p:sp>
        <p:nvSpPr>
          <p:cNvPr id="137" name="Text 133"/>
          <p:cNvSpPr/>
          <p:nvPr/>
        </p:nvSpPr>
        <p:spPr>
          <a:xfrm>
            <a:off x="7876032" y="766724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labelStyleRef =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f_combine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"bold"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138" name="Text 134"/>
          <p:cNvSpPr/>
          <p:nvPr/>
        </p:nvSpPr>
        <p:spPr>
          <a:xfrm>
            <a:off x="7876032" y="781812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"red"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"centered"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750" dirty="0"/>
          </a:p>
        </p:txBody>
      </p:sp>
      <p:sp>
        <p:nvSpPr>
          <p:cNvPr id="139" name="Text 135"/>
          <p:cNvSpPr/>
          <p:nvPr/>
        </p:nvSpPr>
        <p:spPr>
          <a:xfrm>
            <a:off x="7876032" y="796899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Vector: c(f_combine(...), f_combine(...))</a:t>
            </a:r>
            <a:endParaRPr lang="en-US" sz="750" dirty="0"/>
          </a:p>
        </p:txBody>
      </p:sp>
      <p:sp>
        <p:nvSpPr>
          <p:cNvPr id="140" name="Shape 136"/>
          <p:cNvSpPr/>
          <p:nvPr/>
        </p:nvSpPr>
        <p:spPr>
          <a:xfrm>
            <a:off x="7656576" y="8412480"/>
            <a:ext cx="3429000" cy="188640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E21D1B89-55DE-EA36-5A97-8DD97A06F7C7}"/>
              </a:ext>
            </a:extLst>
          </p:cNvPr>
          <p:cNvGrpSpPr/>
          <p:nvPr/>
        </p:nvGrpSpPr>
        <p:grpSpPr>
          <a:xfrm>
            <a:off x="7766304" y="8434832"/>
            <a:ext cx="3209544" cy="310896"/>
            <a:chOff x="7766304" y="8485632"/>
            <a:chExt cx="3209544" cy="310896"/>
          </a:xfrm>
        </p:grpSpPr>
        <p:sp>
          <p:nvSpPr>
            <p:cNvPr id="141" name="Shape 137"/>
            <p:cNvSpPr/>
            <p:nvPr/>
          </p:nvSpPr>
          <p:spPr>
            <a:xfrm>
              <a:off x="7766304" y="8503920"/>
              <a:ext cx="91440" cy="274320"/>
            </a:xfrm>
            <a:prstGeom prst="rect">
              <a:avLst/>
            </a:prstGeom>
            <a:solidFill>
              <a:srgbClr val="10B981"/>
            </a:solidFill>
            <a:ln/>
          </p:spPr>
        </p:sp>
        <p:sp>
          <p:nvSpPr>
            <p:cNvPr id="142" name="Text 138"/>
            <p:cNvSpPr/>
            <p:nvPr/>
          </p:nvSpPr>
          <p:spPr>
            <a:xfrm>
              <a:off x="7912608" y="848563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0B981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Built-in Style Atoms</a:t>
              </a:r>
              <a:endParaRPr lang="en-US" sz="1200" dirty="0"/>
            </a:p>
          </p:txBody>
        </p:sp>
      </p:grpSp>
      <p:sp>
        <p:nvSpPr>
          <p:cNvPr id="143" name="Text 139"/>
          <p:cNvSpPr/>
          <p:nvPr/>
        </p:nvSpPr>
        <p:spPr>
          <a:xfrm>
            <a:off x="7784592" y="8728202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Single-property atoms — compose with f_combine(). tfl_print_style_atoms() for full catalog.</a:t>
            </a:r>
            <a:endParaRPr lang="en-US" sz="700" dirty="0"/>
          </a:p>
        </p:txBody>
      </p:sp>
      <p:graphicFrame>
        <p:nvGraphicFramePr>
          <p:cNvPr id="14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5571048"/>
              </p:ext>
            </p:extLst>
          </p:nvPr>
        </p:nvGraphicFramePr>
        <p:xfrm>
          <a:off x="7784592" y="8966708"/>
          <a:ext cx="3172968" cy="1316736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4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Atom(s)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Effect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b, i, u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Bold / Italic / Underline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fs_7 … fs_11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Font size 7–11pt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fc_black, fc_red …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 colors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al, ar, ac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Left / Right / Center align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ind1–ind4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Left indent 0.5–2.0cm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bt, bb, bl, br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Top/Bottom/Left/Right border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bg_blue, bg_mint …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Cell backgrounds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5" name="Shape 140"/>
          <p:cNvSpPr/>
          <p:nvPr/>
        </p:nvSpPr>
        <p:spPr>
          <a:xfrm>
            <a:off x="11279124" y="1143000"/>
            <a:ext cx="34290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7ECD9D19-4ABF-1D84-A0B9-D4A18EC9F412}"/>
              </a:ext>
            </a:extLst>
          </p:cNvPr>
          <p:cNvGrpSpPr/>
          <p:nvPr/>
        </p:nvGrpSpPr>
        <p:grpSpPr>
          <a:xfrm>
            <a:off x="11388852" y="1178052"/>
            <a:ext cx="3209544" cy="310896"/>
            <a:chOff x="11388852" y="1216152"/>
            <a:chExt cx="3209544" cy="310896"/>
          </a:xfrm>
        </p:grpSpPr>
        <p:sp>
          <p:nvSpPr>
            <p:cNvPr id="146" name="Shape 141"/>
            <p:cNvSpPr/>
            <p:nvPr/>
          </p:nvSpPr>
          <p:spPr>
            <a:xfrm>
              <a:off x="11388852" y="1234440"/>
              <a:ext cx="91440" cy="274320"/>
            </a:xfrm>
            <a:prstGeom prst="rect">
              <a:avLst/>
            </a:prstGeom>
            <a:solidFill>
              <a:srgbClr val="0EA5E9"/>
            </a:solidFill>
            <a:ln/>
          </p:spPr>
        </p:sp>
        <p:sp>
          <p:nvSpPr>
            <p:cNvPr id="147" name="Text 142"/>
            <p:cNvSpPr/>
            <p:nvPr/>
          </p:nvSpPr>
          <p:spPr>
            <a:xfrm>
              <a:off x="11535156" y="121615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EA5E9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Building &amp; Rendering Reports</a:t>
              </a:r>
              <a:endParaRPr lang="en-US" sz="1200" dirty="0"/>
            </a:p>
          </p:txBody>
        </p:sp>
      </p:grpSp>
      <p:sp>
        <p:nvSpPr>
          <p:cNvPr id="148" name="Shape 143"/>
          <p:cNvSpPr/>
          <p:nvPr/>
        </p:nvSpPr>
        <p:spPr>
          <a:xfrm>
            <a:off x="11407140" y="1490472"/>
            <a:ext cx="3172968" cy="161848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9" name="Text 144"/>
          <p:cNvSpPr/>
          <p:nvPr/>
        </p:nvSpPr>
        <p:spPr>
          <a:xfrm>
            <a:off x="11498580" y="154533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Combine specs into one report</a:t>
            </a:r>
            <a:endParaRPr lang="en-US" sz="750" dirty="0"/>
          </a:p>
        </p:txBody>
      </p:sp>
      <p:sp>
        <p:nvSpPr>
          <p:cNvPr id="150" name="Text 145"/>
          <p:cNvSpPr/>
          <p:nvPr/>
        </p:nvSpPr>
        <p:spPr>
          <a:xfrm>
            <a:off x="11498580" y="169621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create_report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750" dirty="0"/>
          </a:p>
        </p:txBody>
      </p:sp>
      <p:sp>
        <p:nvSpPr>
          <p:cNvPr id="151" name="Text 146"/>
          <p:cNvSpPr/>
          <p:nvPr/>
        </p:nvSpPr>
        <p:spPr>
          <a:xfrm>
            <a:off x="11498580" y="184708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spec_table, spec_text, spec_fig)</a:t>
            </a:r>
            <a:endParaRPr lang="en-US" sz="750" dirty="0"/>
          </a:p>
        </p:txBody>
      </p:sp>
      <p:sp>
        <p:nvSpPr>
          <p:cNvPr id="152" name="Text 147"/>
          <p:cNvSpPr/>
          <p:nvPr/>
        </p:nvSpPr>
        <p:spPr>
          <a:xfrm>
            <a:off x="11498580" y="199796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53" name="Text 148"/>
          <p:cNvSpPr/>
          <p:nvPr/>
        </p:nvSpPr>
        <p:spPr>
          <a:xfrm>
            <a:off x="11498580" y="214884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One-step render to DOCX</a:t>
            </a:r>
            <a:endParaRPr lang="en-US" sz="750" dirty="0"/>
          </a:p>
        </p:txBody>
      </p:sp>
      <p:sp>
        <p:nvSpPr>
          <p:cNvPr id="154" name="Text 149"/>
          <p:cNvSpPr/>
          <p:nvPr/>
        </p:nvSpPr>
        <p:spPr>
          <a:xfrm>
            <a:off x="11498580" y="229971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write_doc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(report,</a:t>
            </a:r>
            <a:endParaRPr lang="en-US" sz="750" dirty="0"/>
          </a:p>
        </p:txBody>
      </p:sp>
      <p:sp>
        <p:nvSpPr>
          <p:cNvPr id="155" name="Text 150"/>
          <p:cNvSpPr/>
          <p:nvPr/>
        </p:nvSpPr>
        <p:spPr>
          <a:xfrm>
            <a:off x="11498580" y="245059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"demographics"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156" name="Text 151"/>
          <p:cNvSpPr/>
          <p:nvPr/>
        </p:nvSpPr>
        <p:spPr>
          <a:xfrm>
            <a:off x="11498580" y="260146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outDir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"./output"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157" name="Text 152"/>
          <p:cNvSpPr/>
          <p:nvPr/>
        </p:nvSpPr>
        <p:spPr>
          <a:xfrm>
            <a:off x="11498580" y="275234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metaPath = tempdir(),</a:t>
            </a:r>
            <a:endParaRPr lang="en-US" sz="750" dirty="0"/>
          </a:p>
        </p:txBody>
      </p:sp>
      <p:sp>
        <p:nvSpPr>
          <p:cNvPr id="158" name="Text 153"/>
          <p:cNvSpPr/>
          <p:nvPr/>
        </p:nvSpPr>
        <p:spPr>
          <a:xfrm>
            <a:off x="11498580" y="290322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toc = 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verbose = 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159" name="Text 154"/>
          <p:cNvSpPr/>
          <p:nvPr/>
        </p:nvSpPr>
        <p:spPr>
          <a:xfrm>
            <a:off x="11407140" y="3145536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create_report() </a:t>
            </a: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flattens inputs, validates structure, consolidates </a:t>
            </a:r>
            <a:r>
              <a:rPr lang="en-US" sz="7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f_combine() </a:t>
            </a: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styles, and assigns sequential docOrder. Set toc = TRUE for Table of Contents (requires toclevel on titles).</a:t>
            </a:r>
            <a:endParaRPr lang="en-US" sz="700" dirty="0"/>
          </a:p>
        </p:txBody>
      </p:sp>
      <p:sp>
        <p:nvSpPr>
          <p:cNvPr id="160" name="Shape 155"/>
          <p:cNvSpPr/>
          <p:nvPr/>
        </p:nvSpPr>
        <p:spPr>
          <a:xfrm>
            <a:off x="11279124" y="3749040"/>
            <a:ext cx="34290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B76242B3-87C2-A979-2969-2E276D9B09BD}"/>
              </a:ext>
            </a:extLst>
          </p:cNvPr>
          <p:cNvGrpSpPr/>
          <p:nvPr/>
        </p:nvGrpSpPr>
        <p:grpSpPr>
          <a:xfrm>
            <a:off x="11388852" y="3796792"/>
            <a:ext cx="3209544" cy="310896"/>
            <a:chOff x="11388852" y="3822192"/>
            <a:chExt cx="3209544" cy="310896"/>
          </a:xfrm>
        </p:grpSpPr>
        <p:sp>
          <p:nvSpPr>
            <p:cNvPr id="161" name="Shape 156"/>
            <p:cNvSpPr/>
            <p:nvPr/>
          </p:nvSpPr>
          <p:spPr>
            <a:xfrm>
              <a:off x="11388852" y="3840480"/>
              <a:ext cx="91440" cy="274320"/>
            </a:xfrm>
            <a:prstGeom prst="rect">
              <a:avLst/>
            </a:prstGeom>
            <a:solidFill>
              <a:srgbClr val="F59E0B"/>
            </a:solidFill>
            <a:ln/>
          </p:spPr>
        </p:sp>
        <p:sp>
          <p:nvSpPr>
            <p:cNvPr id="162" name="Text 157"/>
            <p:cNvSpPr/>
            <p:nvPr/>
          </p:nvSpPr>
          <p:spPr>
            <a:xfrm>
              <a:off x="11535156" y="382219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59E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Metadata &amp; Reproducibility</a:t>
              </a:r>
              <a:endParaRPr lang="en-US" sz="1200" dirty="0"/>
            </a:p>
          </p:txBody>
        </p:sp>
      </p:grpSp>
      <p:sp>
        <p:nvSpPr>
          <p:cNvPr id="163" name="Text 158"/>
          <p:cNvSpPr/>
          <p:nvPr/>
        </p:nvSpPr>
        <p:spPr>
          <a:xfrm>
            <a:off x="11407140" y="4096512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 specs enable re-rendering without R, version tracking, and audit trails for regulated submissions.</a:t>
            </a:r>
            <a:endParaRPr lang="en-US" sz="750" dirty="0"/>
          </a:p>
        </p:txBody>
      </p:sp>
      <p:sp>
        <p:nvSpPr>
          <p:cNvPr id="164" name="Shape 159"/>
          <p:cNvSpPr/>
          <p:nvPr/>
        </p:nvSpPr>
        <p:spPr>
          <a:xfrm>
            <a:off x="11407140" y="4370832"/>
            <a:ext cx="3172968" cy="141274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5" name="Text 160"/>
          <p:cNvSpPr/>
          <p:nvPr/>
        </p:nvSpPr>
        <p:spPr>
          <a:xfrm>
            <a:off x="11498580" y="442569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Two-step: save then re-render</a:t>
            </a:r>
            <a:endParaRPr lang="en-US" sz="750" dirty="0"/>
          </a:p>
        </p:txBody>
      </p:sp>
      <p:sp>
        <p:nvSpPr>
          <p:cNvPr id="166" name="Text 161"/>
          <p:cNvSpPr/>
          <p:nvPr/>
        </p:nvSpPr>
        <p:spPr>
          <a:xfrm>
            <a:off x="11498580" y="457657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save_report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(report,</a:t>
            </a:r>
            <a:endParaRPr lang="en-US" sz="750" dirty="0"/>
          </a:p>
        </p:txBody>
      </p:sp>
      <p:sp>
        <p:nvSpPr>
          <p:cNvPr id="167" name="Text 162"/>
          <p:cNvSpPr/>
          <p:nvPr/>
        </p:nvSpPr>
        <p:spPr>
          <a:xfrm>
            <a:off x="11498580" y="472744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docFileName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"report.docx"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168" name="Text 163"/>
          <p:cNvSpPr/>
          <p:nvPr/>
        </p:nvSpPr>
        <p:spPr>
          <a:xfrm>
            <a:off x="11498580" y="487832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outDir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"./out"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metaPath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"./meta"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169" name="Text 164"/>
          <p:cNvSpPr/>
          <p:nvPr/>
        </p:nvSpPr>
        <p:spPr>
          <a:xfrm>
            <a:off x="11498580" y="502920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70" name="Text 165"/>
          <p:cNvSpPr/>
          <p:nvPr/>
        </p:nvSpPr>
        <p:spPr>
          <a:xfrm>
            <a:off x="11498580" y="518007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replay_report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"report.docx"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171" name="Text 166"/>
          <p:cNvSpPr/>
          <p:nvPr/>
        </p:nvSpPr>
        <p:spPr>
          <a:xfrm>
            <a:off x="11498580" y="533095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meta_dir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"./meta"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172" name="Text 167"/>
          <p:cNvSpPr/>
          <p:nvPr/>
        </p:nvSpPr>
        <p:spPr>
          <a:xfrm>
            <a:off x="11498580" y="548182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list_reports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"./meta"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173" name="Text 168"/>
          <p:cNvSpPr/>
          <p:nvPr/>
        </p:nvSpPr>
        <p:spPr>
          <a:xfrm>
            <a:off x="11498580" y="563270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clean_reports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"./meta"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dry_run = 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174" name="Shape 169"/>
          <p:cNvSpPr/>
          <p:nvPr/>
        </p:nvSpPr>
        <p:spPr>
          <a:xfrm>
            <a:off x="11279124" y="5989320"/>
            <a:ext cx="342900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7F9FABC5-57A7-6761-BD49-6C37D37E9AD4}"/>
              </a:ext>
            </a:extLst>
          </p:cNvPr>
          <p:cNvGrpSpPr/>
          <p:nvPr/>
        </p:nvGrpSpPr>
        <p:grpSpPr>
          <a:xfrm>
            <a:off x="11388852" y="6037072"/>
            <a:ext cx="3209544" cy="310896"/>
            <a:chOff x="11388852" y="6062472"/>
            <a:chExt cx="3209544" cy="310896"/>
          </a:xfrm>
        </p:grpSpPr>
        <p:sp>
          <p:nvSpPr>
            <p:cNvPr id="175" name="Shape 170"/>
            <p:cNvSpPr/>
            <p:nvPr/>
          </p:nvSpPr>
          <p:spPr>
            <a:xfrm>
              <a:off x="11388852" y="6080760"/>
              <a:ext cx="91440" cy="274320"/>
            </a:xfrm>
            <a:prstGeom prst="rect">
              <a:avLst/>
            </a:prstGeom>
            <a:solidFill>
              <a:srgbClr val="0D9488"/>
            </a:solidFill>
            <a:ln/>
          </p:spPr>
        </p:sp>
        <p:sp>
          <p:nvSpPr>
            <p:cNvPr id="176" name="Text 171"/>
            <p:cNvSpPr/>
            <p:nvPr/>
          </p:nvSpPr>
          <p:spPr>
            <a:xfrm>
              <a:off x="11535156" y="606247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D948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Session-Wide Defaults</a:t>
              </a:r>
              <a:endParaRPr lang="en-US" sz="1200" dirty="0"/>
            </a:p>
          </p:txBody>
        </p:sp>
      </p:grpSp>
      <p:sp>
        <p:nvSpPr>
          <p:cNvPr id="177" name="Text 172"/>
          <p:cNvSpPr/>
          <p:nvPr/>
        </p:nvSpPr>
        <p:spPr>
          <a:xfrm>
            <a:off x="11407140" y="6336792"/>
            <a:ext cx="3172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once, inherited by all new specs. Headers, footers, output dirs, and style defaults.</a:t>
            </a:r>
            <a:endParaRPr lang="en-US" sz="750" dirty="0"/>
          </a:p>
        </p:txBody>
      </p:sp>
      <p:sp>
        <p:nvSpPr>
          <p:cNvPr id="178" name="Shape 173"/>
          <p:cNvSpPr/>
          <p:nvPr/>
        </p:nvSpPr>
        <p:spPr>
          <a:xfrm>
            <a:off x="11407140" y="6592824"/>
            <a:ext cx="3172968" cy="116586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9" name="Text 174"/>
          <p:cNvSpPr/>
          <p:nvPr/>
        </p:nvSpPr>
        <p:spPr>
          <a:xfrm>
            <a:off x="11498580" y="664768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tfl_set_options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750" dirty="0"/>
          </a:p>
        </p:txBody>
      </p:sp>
      <p:sp>
        <p:nvSpPr>
          <p:cNvPr id="180" name="Text 175"/>
          <p:cNvSpPr/>
          <p:nvPr/>
        </p:nvSpPr>
        <p:spPr>
          <a:xfrm>
            <a:off x="11498580" y="679856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add_header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"Study"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"CONF"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750" dirty="0"/>
          </a:p>
        </p:txBody>
      </p:sp>
      <p:sp>
        <p:nvSpPr>
          <p:cNvPr id="181" name="Text 176"/>
          <p:cNvSpPr/>
          <p:nvPr/>
        </p:nvSpPr>
        <p:spPr>
          <a:xfrm>
            <a:off x="11498580" y="694944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add_footer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"Co."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"Page {page}"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750" dirty="0"/>
          </a:p>
        </p:txBody>
      </p:sp>
      <p:sp>
        <p:nvSpPr>
          <p:cNvPr id="182" name="Text 177"/>
          <p:cNvSpPr/>
          <p:nvPr/>
        </p:nvSpPr>
        <p:spPr>
          <a:xfrm>
            <a:off x="11498580" y="710031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output_directory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"./output"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183" name="Text 178"/>
          <p:cNvSpPr/>
          <p:nvPr/>
        </p:nvSpPr>
        <p:spPr>
          <a:xfrm>
            <a:off x="11498580" y="725119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meta_directory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"./meta"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184" name="Text 179"/>
          <p:cNvSpPr/>
          <p:nvPr/>
        </p:nvSpPr>
        <p:spPr>
          <a:xfrm>
            <a:off x="11498580" y="740206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tfl_get_options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</a:t>
            </a: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</a:t>
            </a:r>
            <a:endParaRPr lang="en-US" sz="750" dirty="0"/>
          </a:p>
        </p:txBody>
      </p:sp>
      <p:sp>
        <p:nvSpPr>
          <p:cNvPr id="185" name="Text 180"/>
          <p:cNvSpPr/>
          <p:nvPr/>
        </p:nvSpPr>
        <p:spPr>
          <a:xfrm>
            <a:off x="11498580" y="755294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tfl_reset_options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</a:t>
            </a: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clear</a:t>
            </a:r>
            <a:endParaRPr lang="en-US" sz="750" dirty="0"/>
          </a:p>
        </p:txBody>
      </p:sp>
      <p:sp>
        <p:nvSpPr>
          <p:cNvPr id="186" name="Shape 181"/>
          <p:cNvSpPr/>
          <p:nvPr/>
        </p:nvSpPr>
        <p:spPr>
          <a:xfrm>
            <a:off x="11279124" y="8092440"/>
            <a:ext cx="3429000" cy="220644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088D52FF-B195-7AF1-9B1F-F01D00526D28}"/>
              </a:ext>
            </a:extLst>
          </p:cNvPr>
          <p:cNvGrpSpPr/>
          <p:nvPr/>
        </p:nvGrpSpPr>
        <p:grpSpPr>
          <a:xfrm>
            <a:off x="11388852" y="8140192"/>
            <a:ext cx="3209544" cy="310896"/>
            <a:chOff x="11388852" y="8165592"/>
            <a:chExt cx="3209544" cy="310896"/>
          </a:xfrm>
        </p:grpSpPr>
        <p:sp>
          <p:nvSpPr>
            <p:cNvPr id="187" name="Shape 182"/>
            <p:cNvSpPr/>
            <p:nvPr/>
          </p:nvSpPr>
          <p:spPr>
            <a:xfrm>
              <a:off x="11388852" y="8183880"/>
              <a:ext cx="91440" cy="274320"/>
            </a:xfrm>
            <a:prstGeom prst="rect">
              <a:avLst/>
            </a:prstGeom>
            <a:solidFill>
              <a:srgbClr val="F43F5E"/>
            </a:solidFill>
            <a:ln/>
          </p:spPr>
        </p:sp>
        <p:sp>
          <p:nvSpPr>
            <p:cNvPr id="188" name="Text 183"/>
            <p:cNvSpPr/>
            <p:nvPr/>
          </p:nvSpPr>
          <p:spPr>
            <a:xfrm>
              <a:off x="11535156" y="816559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43F5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Column Width Management</a:t>
              </a:r>
              <a:endParaRPr lang="en-US" sz="1200" dirty="0"/>
            </a:p>
          </p:txBody>
        </p:sp>
      </p:grpSp>
      <p:sp>
        <p:nvSpPr>
          <p:cNvPr id="189" name="Text 184"/>
          <p:cNvSpPr/>
          <p:nvPr/>
        </p:nvSpPr>
        <p:spPr>
          <a:xfrm>
            <a:off x="11407140" y="8439912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Auto-calculated from data. Lock columns with colWidth; unlocked columns auto-fill remaining space proportionally.</a:t>
            </a:r>
            <a:endParaRPr lang="en-US" sz="750" dirty="0"/>
          </a:p>
        </p:txBody>
      </p:sp>
      <p:sp>
        <p:nvSpPr>
          <p:cNvPr id="190" name="Shape 185"/>
          <p:cNvSpPr/>
          <p:nvPr/>
        </p:nvSpPr>
        <p:spPr>
          <a:xfrm>
            <a:off x="11407140" y="8732520"/>
            <a:ext cx="3172968" cy="10149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1" name="Text 186"/>
          <p:cNvSpPr/>
          <p:nvPr/>
        </p:nvSpPr>
        <p:spPr>
          <a:xfrm>
            <a:off x="11498580" y="878738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Lock one column at 15%</a:t>
            </a:r>
            <a:endParaRPr lang="en-US" sz="750" dirty="0"/>
          </a:p>
        </p:txBody>
      </p:sp>
      <p:sp>
        <p:nvSpPr>
          <p:cNvPr id="192" name="Text 187"/>
          <p:cNvSpPr/>
          <p:nvPr/>
        </p:nvSpPr>
        <p:spPr>
          <a:xfrm>
            <a:off x="11498580" y="893826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define_cols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id,</a:t>
            </a:r>
            <a:endParaRPr lang="en-US" sz="750" dirty="0"/>
          </a:p>
        </p:txBody>
      </p:sp>
      <p:sp>
        <p:nvSpPr>
          <p:cNvPr id="193" name="Text 188"/>
          <p:cNvSpPr/>
          <p:nvPr/>
        </p:nvSpPr>
        <p:spPr>
          <a:xfrm>
            <a:off x="11498580" y="908913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colWidth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"15%"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194" name="Text 189"/>
          <p:cNvSpPr/>
          <p:nvPr/>
        </p:nvSpPr>
        <p:spPr>
          <a:xfrm>
            <a:off x="11498580" y="924001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95" name="Text 190"/>
          <p:cNvSpPr/>
          <p:nvPr/>
        </p:nvSpPr>
        <p:spPr>
          <a:xfrm>
            <a:off x="11498580" y="939088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Absolute: colWidth = "2.5cm"</a:t>
            </a:r>
            <a:endParaRPr lang="en-US" sz="750" dirty="0"/>
          </a:p>
        </p:txBody>
      </p:sp>
      <p:sp>
        <p:nvSpPr>
          <p:cNvPr id="196" name="Text 191"/>
          <p:cNvSpPr/>
          <p:nvPr/>
        </p:nvSpPr>
        <p:spPr>
          <a:xfrm>
            <a:off x="11498580" y="954176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Hide: isVisible = FALSE</a:t>
            </a:r>
            <a:endParaRPr lang="en-US" sz="750" dirty="0"/>
          </a:p>
        </p:txBody>
      </p:sp>
      <p:sp>
        <p:nvSpPr>
          <p:cNvPr id="197" name="Text 192"/>
          <p:cNvSpPr/>
          <p:nvPr/>
        </p:nvSpPr>
        <p:spPr>
          <a:xfrm>
            <a:off x="11407140" y="9790367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Width states: VISIBLE (default), LOCKED (colWidth set), UNLOCKED (auto), INVISIBLE (isVisible=FALSE → 0cm). autoColWidth=TRUE by default.</a:t>
            </a:r>
            <a:endParaRPr lang="en-US" sz="700" dirty="0"/>
          </a:p>
        </p:txBody>
      </p:sp>
      <p:sp>
        <p:nvSpPr>
          <p:cNvPr id="198" name="Shape 193"/>
          <p:cNvSpPr/>
          <p:nvPr/>
        </p:nvSpPr>
        <p:spPr>
          <a:xfrm>
            <a:off x="0" y="10372039"/>
            <a:ext cx="15119604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9" name="Text 194"/>
          <p:cNvSpPr/>
          <p:nvPr/>
        </p:nvSpPr>
        <p:spPr>
          <a:xfrm>
            <a:off x="411480" y="10390327"/>
            <a:ext cx="142966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 err="1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ksTFL</a:t>
            </a: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v0.11.x  •  Clinical TFL Framework  •  GPL-3  •  Igor Aleschenkov &amp; Vladimir Larchenko</a:t>
            </a:r>
            <a:endParaRPr lang="en-US" sz="700" dirty="0"/>
          </a:p>
        </p:txBody>
      </p:sp>
      <p:sp>
        <p:nvSpPr>
          <p:cNvPr id="200" name="Text 2">
            <a:extLst>
              <a:ext uri="{FF2B5EF4-FFF2-40B4-BE49-F238E27FC236}">
                <a16:creationId xmlns:a16="http://schemas.microsoft.com/office/drawing/2014/main" id="{C86E2552-4784-D0B4-2E56-F27CDB8AEAAB}"/>
              </a:ext>
            </a:extLst>
          </p:cNvPr>
          <p:cNvSpPr/>
          <p:nvPr/>
        </p:nvSpPr>
        <p:spPr>
          <a:xfrm>
            <a:off x="11126978" y="480060"/>
            <a:ext cx="24381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i="1" dirty="0">
                <a:solidFill>
                  <a:schemeClr val="accent6">
                    <a:lumMod val="20000"/>
                    <a:lumOff val="80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https://github.com/crow16384/ksTFL </a:t>
            </a:r>
            <a:endParaRPr lang="en-US" sz="10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06" name="Shape 67">
            <a:extLst>
              <a:ext uri="{FF2B5EF4-FFF2-40B4-BE49-F238E27FC236}">
                <a16:creationId xmlns:a16="http://schemas.microsoft.com/office/drawing/2014/main" id="{9E09DA21-0C9E-264A-CCB6-15959E574BBC}"/>
              </a:ext>
            </a:extLst>
          </p:cNvPr>
          <p:cNvSpPr/>
          <p:nvPr/>
        </p:nvSpPr>
        <p:spPr>
          <a:xfrm>
            <a:off x="538988" y="1545336"/>
            <a:ext cx="3172968" cy="37947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3A4EDF6C-9F62-16D3-798A-49C8E7A503C1}"/>
              </a:ext>
            </a:extLst>
          </p:cNvPr>
          <p:cNvGrpSpPr/>
          <p:nvPr/>
        </p:nvGrpSpPr>
        <p:grpSpPr>
          <a:xfrm>
            <a:off x="521208" y="1227683"/>
            <a:ext cx="3209544" cy="310896"/>
            <a:chOff x="539496" y="1273302"/>
            <a:chExt cx="3209544" cy="310896"/>
          </a:xfrm>
        </p:grpSpPr>
        <p:sp>
          <p:nvSpPr>
            <p:cNvPr id="204" name="Shape 156">
              <a:extLst>
                <a:ext uri="{FF2B5EF4-FFF2-40B4-BE49-F238E27FC236}">
                  <a16:creationId xmlns:a16="http://schemas.microsoft.com/office/drawing/2014/main" id="{3B115D47-22E6-8D3E-D4AA-9182B387CE1E}"/>
                </a:ext>
              </a:extLst>
            </p:cNvPr>
            <p:cNvSpPr/>
            <p:nvPr/>
          </p:nvSpPr>
          <p:spPr>
            <a:xfrm>
              <a:off x="539496" y="1291590"/>
              <a:ext cx="91440" cy="274320"/>
            </a:xfrm>
            <a:prstGeom prst="rect">
              <a:avLst/>
            </a:prstGeom>
            <a:solidFill>
              <a:srgbClr val="F59E0B"/>
            </a:solidFill>
            <a:ln/>
          </p:spPr>
        </p:sp>
        <p:sp>
          <p:nvSpPr>
            <p:cNvPr id="205" name="Text 157">
              <a:extLst>
                <a:ext uri="{FF2B5EF4-FFF2-40B4-BE49-F238E27FC236}">
                  <a16:creationId xmlns:a16="http://schemas.microsoft.com/office/drawing/2014/main" id="{4BE508E5-26D0-8F4A-3E63-21AE7E8FB30E}"/>
                </a:ext>
              </a:extLst>
            </p:cNvPr>
            <p:cNvSpPr/>
            <p:nvPr/>
          </p:nvSpPr>
          <p:spPr>
            <a:xfrm>
              <a:off x="685800" y="127330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59E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Installation</a:t>
              </a:r>
              <a:endParaRPr lang="en-US" sz="1200" dirty="0"/>
            </a:p>
          </p:txBody>
        </p:sp>
      </p:grpSp>
      <p:sp>
        <p:nvSpPr>
          <p:cNvPr id="208" name="Text 52">
            <a:extLst>
              <a:ext uri="{FF2B5EF4-FFF2-40B4-BE49-F238E27FC236}">
                <a16:creationId xmlns:a16="http://schemas.microsoft.com/office/drawing/2014/main" id="{030377AD-A7BF-C86E-670E-E7F0BCE1C3B4}"/>
              </a:ext>
            </a:extLst>
          </p:cNvPr>
          <p:cNvSpPr/>
          <p:nvPr/>
        </p:nvSpPr>
        <p:spPr>
          <a:xfrm>
            <a:off x="576072" y="1600200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installation instructions see the package documentation at</a:t>
            </a:r>
            <a:b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</a:b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/>
              </a:rPr>
              <a:t>https://crow16384.github.io/ksTFL-release/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19604" cy="960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ksTFL</a:t>
            </a: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00" dirty="0">
                <a:solidFill>
                  <a:srgbClr val="99F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v0.11.x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F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Framework for Clinical Tables, Figures, and Listings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76004" y="137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Features &amp; Patterns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022324" y="5303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F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2004" y="5303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i="1" dirty="0">
                <a:solidFill>
                  <a:schemeClr val="accent6">
                    <a:lumMod val="20000"/>
                    <a:lumOff val="80000"/>
                  </a:schemeClr>
                </a:solidFill>
                <a:latin typeface=""/>
                <a:ea typeface="Segoe UI" pitchFamily="34" charset="-122"/>
                <a:cs typeface="Segoe U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</a:t>
            </a:r>
            <a:r>
              <a:rPr lang="en-US" sz="1000" b="1" i="1" dirty="0">
                <a:solidFill>
                  <a:schemeClr val="accent6">
                    <a:lumMod val="20000"/>
                    <a:lumOff val="80000"/>
                  </a:schemeClr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Segoe U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crow16384</a:t>
            </a:r>
            <a:r>
              <a:rPr lang="en-US" sz="1000" b="1" i="1" dirty="0">
                <a:solidFill>
                  <a:schemeClr val="accent6">
                    <a:lumMod val="20000"/>
                    <a:lumOff val="80000"/>
                  </a:schemeClr>
                </a:solidFill>
                <a:latin typeface=""/>
                <a:ea typeface="Segoe UI" pitchFamily="34" charset="-122"/>
                <a:cs typeface="Segoe U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/ksTFL </a:t>
            </a:r>
            <a:endParaRPr lang="en-US" sz="1000" b="1" dirty="0">
              <a:solidFill>
                <a:schemeClr val="accent6">
                  <a:lumMod val="20000"/>
                  <a:lumOff val="80000"/>
                </a:schemeClr>
              </a:solidFill>
              <a:latin typeface=""/>
            </a:endParaRPr>
          </a:p>
          <a:p>
            <a:pPr marL="0" indent="0" algn="r">
              <a:buNone/>
            </a:pPr>
            <a:endParaRPr lang="en-US" sz="1000" b="1" i="1" dirty="0">
              <a:solidFill>
                <a:schemeClr val="accent6">
                  <a:lumMod val="20000"/>
                  <a:lumOff val="80000"/>
                </a:schemeClr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11480" y="1143000"/>
            <a:ext cx="3429000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143000"/>
            <a:ext cx="3429000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0" name="Shape 8"/>
          <p:cNvSpPr/>
          <p:nvPr/>
        </p:nvSpPr>
        <p:spPr>
          <a:xfrm>
            <a:off x="420624" y="1170432"/>
            <a:ext cx="3410712" cy="36576"/>
          </a:xfrm>
          <a:prstGeom prst="rect">
            <a:avLst/>
          </a:prstGeom>
          <a:solidFill>
            <a:srgbClr val="F43F5E"/>
          </a:solidFill>
          <a:ln/>
        </p:spPr>
      </p: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78E464B5-99DF-04DE-F606-70602258123D}"/>
              </a:ext>
            </a:extLst>
          </p:cNvPr>
          <p:cNvGrpSpPr/>
          <p:nvPr/>
        </p:nvGrpSpPr>
        <p:grpSpPr>
          <a:xfrm>
            <a:off x="521208" y="1220216"/>
            <a:ext cx="3209544" cy="310896"/>
            <a:chOff x="521208" y="1271016"/>
            <a:chExt cx="3209544" cy="310896"/>
          </a:xfrm>
        </p:grpSpPr>
        <p:sp>
          <p:nvSpPr>
            <p:cNvPr id="11" name="Shape 9"/>
            <p:cNvSpPr/>
            <p:nvPr/>
          </p:nvSpPr>
          <p:spPr>
            <a:xfrm>
              <a:off x="521208" y="1289304"/>
              <a:ext cx="91440" cy="274320"/>
            </a:xfrm>
            <a:prstGeom prst="rect">
              <a:avLst/>
            </a:prstGeom>
            <a:solidFill>
              <a:srgbClr val="F43F5E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667512" y="1271016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43F5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Conditional Row Actions - compute_cols()</a:t>
              </a:r>
              <a:endParaRPr lang="en-US" sz="1200" dirty="0"/>
            </a:p>
          </p:txBody>
        </p:sp>
      </p:grpSp>
      <p:sp>
        <p:nvSpPr>
          <p:cNvPr id="13" name="Text 11"/>
          <p:cNvSpPr/>
          <p:nvPr/>
        </p:nvSpPr>
        <p:spPr>
          <a:xfrm>
            <a:off x="539496" y="1550162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Per-row conditional actions can be configured: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39496" y="1856232"/>
            <a:ext cx="3172968" cy="201168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185623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c_style(cols, styleRef)  — Apply styles conditionally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39496" y="2112264"/>
            <a:ext cx="3172968" cy="71323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" y="216712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compute_cols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30936" y="231800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response ==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30936" y="246888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c_style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(response,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30936" y="261975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styleRef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"highlight_green"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39496" y="2862072"/>
            <a:ext cx="3172968" cy="201168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86207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c_merge(cols)  — Merge adjacent cells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39496" y="3118104"/>
            <a:ext cx="3172968" cy="56235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" y="317296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compute_cols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30936" y="332384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!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firstOf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(group),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30936" y="347472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c_merge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(group, visit)))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39496" y="3717036"/>
            <a:ext cx="3172968" cy="201168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371703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c_addrow(pos, value_from, styleRef)  — Insert rows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39496" y="3973068"/>
            <a:ext cx="3172968" cy="56235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" y="402793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compute_cols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30936" y="417880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firstOf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(group),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30936" y="432968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c_addrow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(pos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"above"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39496" y="4553712"/>
            <a:ext cx="3172968" cy="201168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455371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c_pageBreak()  c_glue()  c_clear()  — More actions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39496" y="4809744"/>
            <a:ext cx="3172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c_pageBreak() </a:t>
            </a: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force new page at row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c_glue(cols, position, text/glue_col, separator) </a:t>
            </a: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append/prepend text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c_clear(cols) </a:t>
            </a: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clear cell content for matching rows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11480" y="6217920"/>
            <a:ext cx="3429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1E385627-4095-5679-F55E-1309B2EB4112}"/>
              </a:ext>
            </a:extLst>
          </p:cNvPr>
          <p:cNvGrpSpPr/>
          <p:nvPr/>
        </p:nvGrpSpPr>
        <p:grpSpPr>
          <a:xfrm>
            <a:off x="521208" y="6246622"/>
            <a:ext cx="3209544" cy="310896"/>
            <a:chOff x="521208" y="6291072"/>
            <a:chExt cx="3209544" cy="310896"/>
          </a:xfrm>
        </p:grpSpPr>
        <p:sp>
          <p:nvSpPr>
            <p:cNvPr id="37" name="Shape 35"/>
            <p:cNvSpPr/>
            <p:nvPr/>
          </p:nvSpPr>
          <p:spPr>
            <a:xfrm>
              <a:off x="521208" y="6309360"/>
              <a:ext cx="91440" cy="274320"/>
            </a:xfrm>
            <a:prstGeom prst="rect">
              <a:avLst/>
            </a:prstGeom>
            <a:solidFill>
              <a:srgbClr val="F59E0B"/>
            </a:solidFill>
            <a:ln/>
          </p:spPr>
        </p:sp>
        <p:sp>
          <p:nvSpPr>
            <p:cNvPr id="38" name="Text 36"/>
            <p:cNvSpPr/>
            <p:nvPr/>
          </p:nvSpPr>
          <p:spPr>
            <a:xfrm>
              <a:off x="667512" y="629107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59E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Condition Helpers (inside </a:t>
              </a:r>
              <a:r>
                <a:rPr lang="en-US" sz="1200" b="1" dirty="0" err="1">
                  <a:solidFill>
                    <a:srgbClr val="F59E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compute_cols</a:t>
              </a:r>
              <a:r>
                <a:rPr lang="en-US" sz="1200" b="1" dirty="0">
                  <a:solidFill>
                    <a:srgbClr val="F59E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())</a:t>
              </a:r>
              <a:endParaRPr lang="en-US" sz="1200" dirty="0"/>
            </a:p>
          </p:txBody>
        </p:sp>
      </p:grp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6583680"/>
          <a:ext cx="3172968" cy="1774952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Helper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Returns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firstOf(col1, col2, ...)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TRUE at first occurrence of each unique combo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lastOf(col1, col2, ...)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TRUE at last occurrence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firstRow()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TRUE only at very first row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lastRow()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TRUE only at very last row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rowNumber()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1-based row index (integer)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everyNth(n)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TRUE every n-th row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firstOfBlock(col, n, off)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First row of every n-th block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0" name="Shape 37"/>
          <p:cNvSpPr/>
          <p:nvPr/>
        </p:nvSpPr>
        <p:spPr>
          <a:xfrm>
            <a:off x="411480" y="8549640"/>
            <a:ext cx="3429000" cy="174924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C78E3239-8B4E-9F05-C80A-53CBB77063A9}"/>
              </a:ext>
            </a:extLst>
          </p:cNvPr>
          <p:cNvGrpSpPr/>
          <p:nvPr/>
        </p:nvGrpSpPr>
        <p:grpSpPr>
          <a:xfrm>
            <a:off x="521208" y="8584692"/>
            <a:ext cx="3209544" cy="310896"/>
            <a:chOff x="521208" y="8622792"/>
            <a:chExt cx="3209544" cy="310896"/>
          </a:xfrm>
        </p:grpSpPr>
        <p:sp>
          <p:nvSpPr>
            <p:cNvPr id="41" name="Shape 38"/>
            <p:cNvSpPr/>
            <p:nvPr/>
          </p:nvSpPr>
          <p:spPr>
            <a:xfrm>
              <a:off x="521208" y="8641080"/>
              <a:ext cx="91440" cy="274320"/>
            </a:xfrm>
            <a:prstGeom prst="rect">
              <a:avLst/>
            </a:prstGeom>
            <a:solidFill>
              <a:srgbClr val="0D9488"/>
            </a:solidFill>
            <a:ln/>
          </p:spPr>
        </p:sp>
        <p:sp>
          <p:nvSpPr>
            <p:cNvPr id="42" name="Text 39"/>
            <p:cNvSpPr/>
            <p:nvPr/>
          </p:nvSpPr>
          <p:spPr>
            <a:xfrm>
              <a:off x="667512" y="862279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D948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Common Pattern: Alternating Row Bg</a:t>
              </a:r>
              <a:endParaRPr lang="en-US" sz="1200" dirty="0"/>
            </a:p>
          </p:txBody>
        </p:sp>
      </p:grpSp>
      <p:sp>
        <p:nvSpPr>
          <p:cNvPr id="43" name="Shape 40"/>
          <p:cNvSpPr/>
          <p:nvPr/>
        </p:nvSpPr>
        <p:spPr>
          <a:xfrm>
            <a:off x="539496" y="8915400"/>
            <a:ext cx="3172968" cy="131673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30936" y="897026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add_style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id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"zebra"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630936" y="912114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s_table_style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630936" y="927201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background_color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"#F5F5F5"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630936" y="942289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630936" y="957376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compute_cols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630936" y="972464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everyNth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(2),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630936" y="987552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c_style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(everything(),</a:t>
            </a:r>
            <a:endParaRPr lang="en-US" sz="750" dirty="0"/>
          </a:p>
        </p:txBody>
      </p:sp>
      <p:sp>
        <p:nvSpPr>
          <p:cNvPr id="51" name="Text 48"/>
          <p:cNvSpPr/>
          <p:nvPr/>
        </p:nvSpPr>
        <p:spPr>
          <a:xfrm>
            <a:off x="630936" y="1002639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styleRef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"zebra"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750" dirty="0"/>
          </a:p>
        </p:txBody>
      </p:sp>
      <p:sp>
        <p:nvSpPr>
          <p:cNvPr id="52" name="Shape 49"/>
          <p:cNvSpPr/>
          <p:nvPr/>
        </p:nvSpPr>
        <p:spPr>
          <a:xfrm>
            <a:off x="4034028" y="1143000"/>
            <a:ext cx="342900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80EDAC68-753F-749B-FFFB-CFF232A4D872}"/>
              </a:ext>
            </a:extLst>
          </p:cNvPr>
          <p:cNvGrpSpPr/>
          <p:nvPr/>
        </p:nvGrpSpPr>
        <p:grpSpPr>
          <a:xfrm>
            <a:off x="4143756" y="1165352"/>
            <a:ext cx="3209544" cy="310896"/>
            <a:chOff x="4143756" y="1216152"/>
            <a:chExt cx="3209544" cy="310896"/>
          </a:xfrm>
        </p:grpSpPr>
        <p:sp>
          <p:nvSpPr>
            <p:cNvPr id="53" name="Shape 50"/>
            <p:cNvSpPr/>
            <p:nvPr/>
          </p:nvSpPr>
          <p:spPr>
            <a:xfrm>
              <a:off x="4143756" y="1234440"/>
              <a:ext cx="91440" cy="274320"/>
            </a:xfrm>
            <a:prstGeom prst="rect">
              <a:avLst/>
            </a:prstGeom>
            <a:solidFill>
              <a:srgbClr val="0D9488"/>
            </a:solidFill>
            <a:ln/>
          </p:spPr>
        </p:sp>
        <p:sp>
          <p:nvSpPr>
            <p:cNvPr id="54" name="Text 51"/>
            <p:cNvSpPr/>
            <p:nvPr/>
          </p:nvSpPr>
          <p:spPr>
            <a:xfrm>
              <a:off x="4290060" y="121615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D948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Pattern: Clinical Table Header</a:t>
              </a:r>
              <a:endParaRPr lang="en-US" sz="1200" dirty="0"/>
            </a:p>
          </p:txBody>
        </p:sp>
      </p:grpSp>
      <p:sp>
        <p:nvSpPr>
          <p:cNvPr id="55" name="Shape 52"/>
          <p:cNvSpPr/>
          <p:nvPr/>
        </p:nvSpPr>
        <p:spPr>
          <a:xfrm>
            <a:off x="4162044" y="1490472"/>
            <a:ext cx="3172968" cy="146761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4253484" y="154533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add_style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id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"tbl_hdr"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57" name="Text 54"/>
          <p:cNvSpPr/>
          <p:nvPr/>
        </p:nvSpPr>
        <p:spPr>
          <a:xfrm>
            <a:off x="4253484" y="169621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s_font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(font_name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"Arial"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58" name="Text 55"/>
          <p:cNvSpPr/>
          <p:nvPr/>
        </p:nvSpPr>
        <p:spPr>
          <a:xfrm>
            <a:off x="4253484" y="184708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font_size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"11pt"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59" name="Text 56"/>
          <p:cNvSpPr/>
          <p:nvPr/>
        </p:nvSpPr>
        <p:spPr>
          <a:xfrm>
            <a:off x="4253484" y="199796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bold = 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color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"#FFF"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750" dirty="0"/>
          </a:p>
        </p:txBody>
      </p:sp>
      <p:sp>
        <p:nvSpPr>
          <p:cNvPr id="60" name="Text 57"/>
          <p:cNvSpPr/>
          <p:nvPr/>
        </p:nvSpPr>
        <p:spPr>
          <a:xfrm>
            <a:off x="4253484" y="214884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s_paragraph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(alignment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"center"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750" dirty="0"/>
          </a:p>
        </p:txBody>
      </p:sp>
      <p:sp>
        <p:nvSpPr>
          <p:cNvPr id="61" name="Text 58"/>
          <p:cNvSpPr/>
          <p:nvPr/>
        </p:nvSpPr>
        <p:spPr>
          <a:xfrm>
            <a:off x="4253484" y="229971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s_table_style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4253484" y="245059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background_color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"#003366"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63" name="Text 60"/>
          <p:cNvSpPr/>
          <p:nvPr/>
        </p:nvSpPr>
        <p:spPr>
          <a:xfrm>
            <a:off x="4253484" y="260146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row_height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"28pt"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64" name="Text 61"/>
          <p:cNvSpPr/>
          <p:nvPr/>
        </p:nvSpPr>
        <p:spPr>
          <a:xfrm>
            <a:off x="4253484" y="275234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vertical_alignment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"center"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750" dirty="0"/>
          </a:p>
        </p:txBody>
      </p:sp>
      <p:sp>
        <p:nvSpPr>
          <p:cNvPr id="65" name="Text 62"/>
          <p:cNvSpPr/>
          <p:nvPr/>
        </p:nvSpPr>
        <p:spPr>
          <a:xfrm>
            <a:off x="4162044" y="2995676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Define once → apply everywhere with </a:t>
            </a:r>
            <a:r>
              <a:rPr lang="en-US" sz="700" dirty="0" err="1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StyleRef</a:t>
            </a: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= "tbl_hdr". Calls with same id are merged (last-win).</a:t>
            </a:r>
            <a:endParaRPr lang="en-US" sz="700" dirty="0"/>
          </a:p>
        </p:txBody>
      </p:sp>
      <p:sp>
        <p:nvSpPr>
          <p:cNvPr id="66" name="Shape 63"/>
          <p:cNvSpPr/>
          <p:nvPr/>
        </p:nvSpPr>
        <p:spPr>
          <a:xfrm>
            <a:off x="4034028" y="3611880"/>
            <a:ext cx="34290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A1B0C094-C29C-30D9-A0B3-B637A07F866E}"/>
              </a:ext>
            </a:extLst>
          </p:cNvPr>
          <p:cNvGrpSpPr/>
          <p:nvPr/>
        </p:nvGrpSpPr>
        <p:grpSpPr>
          <a:xfrm>
            <a:off x="4143756" y="3634232"/>
            <a:ext cx="3209544" cy="310896"/>
            <a:chOff x="4143756" y="3685032"/>
            <a:chExt cx="3209544" cy="310896"/>
          </a:xfrm>
        </p:grpSpPr>
        <p:sp>
          <p:nvSpPr>
            <p:cNvPr id="67" name="Shape 64"/>
            <p:cNvSpPr/>
            <p:nvPr/>
          </p:nvSpPr>
          <p:spPr>
            <a:xfrm>
              <a:off x="4143756" y="3703320"/>
              <a:ext cx="91440" cy="274320"/>
            </a:xfrm>
            <a:prstGeom prst="rect">
              <a:avLst/>
            </a:prstGeom>
            <a:solidFill>
              <a:srgbClr val="0D9488"/>
            </a:solidFill>
            <a:ln/>
          </p:spPr>
        </p:sp>
        <p:sp>
          <p:nvSpPr>
            <p:cNvPr id="68" name="Text 65"/>
            <p:cNvSpPr/>
            <p:nvPr/>
          </p:nvSpPr>
          <p:spPr>
            <a:xfrm>
              <a:off x="4290060" y="368503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D948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Pattern: Right-Aligned Numeric</a:t>
              </a:r>
              <a:endParaRPr lang="en-US" sz="1200" dirty="0"/>
            </a:p>
          </p:txBody>
        </p:sp>
      </p:grpSp>
      <p:sp>
        <p:nvSpPr>
          <p:cNvPr id="69" name="Shape 66"/>
          <p:cNvSpPr/>
          <p:nvPr/>
        </p:nvSpPr>
        <p:spPr>
          <a:xfrm>
            <a:off x="4162044" y="3959352"/>
            <a:ext cx="3172968" cy="99212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0" name="Text 67"/>
          <p:cNvSpPr/>
          <p:nvPr/>
        </p:nvSpPr>
        <p:spPr>
          <a:xfrm>
            <a:off x="4253484" y="401421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add_style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id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"num_r"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71" name="Text 68"/>
          <p:cNvSpPr/>
          <p:nvPr/>
        </p:nvSpPr>
        <p:spPr>
          <a:xfrm>
            <a:off x="4253484" y="416509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s_paragraph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(alignment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"right"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750" dirty="0"/>
          </a:p>
        </p:txBody>
      </p:sp>
      <p:sp>
        <p:nvSpPr>
          <p:cNvPr id="72" name="Text 69"/>
          <p:cNvSpPr/>
          <p:nvPr/>
        </p:nvSpPr>
        <p:spPr>
          <a:xfrm>
            <a:off x="4253484" y="431596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s_font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(font_name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"Courier New"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73" name="Text 70"/>
          <p:cNvSpPr/>
          <p:nvPr/>
        </p:nvSpPr>
        <p:spPr>
          <a:xfrm>
            <a:off x="4253484" y="446684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font_size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"9pt"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750" dirty="0"/>
          </a:p>
        </p:txBody>
      </p:sp>
      <p:sp>
        <p:nvSpPr>
          <p:cNvPr id="74" name="Text 71"/>
          <p:cNvSpPr/>
          <p:nvPr/>
        </p:nvSpPr>
        <p:spPr>
          <a:xfrm>
            <a:off x="4253484" y="461772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75" name="Text 72"/>
          <p:cNvSpPr/>
          <p:nvPr/>
        </p:nvSpPr>
        <p:spPr>
          <a:xfrm>
            <a:off x="4253484" y="463575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define_cols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(age, weight),</a:t>
            </a:r>
            <a:endParaRPr lang="en-US" sz="750" dirty="0"/>
          </a:p>
        </p:txBody>
      </p:sp>
      <p:sp>
        <p:nvSpPr>
          <p:cNvPr id="76" name="Text 73"/>
          <p:cNvSpPr/>
          <p:nvPr/>
        </p:nvSpPr>
        <p:spPr>
          <a:xfrm>
            <a:off x="4235196" y="476681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valueStyleRef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"num_r"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77" name="Shape 74"/>
          <p:cNvSpPr/>
          <p:nvPr/>
        </p:nvSpPr>
        <p:spPr>
          <a:xfrm>
            <a:off x="4034028" y="5120640"/>
            <a:ext cx="34290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BA82D2D8-6E9B-FC7B-C5C5-D7C843481139}"/>
              </a:ext>
            </a:extLst>
          </p:cNvPr>
          <p:cNvGrpSpPr/>
          <p:nvPr/>
        </p:nvGrpSpPr>
        <p:grpSpPr>
          <a:xfrm>
            <a:off x="4143756" y="5136642"/>
            <a:ext cx="3209544" cy="310896"/>
            <a:chOff x="4143756" y="5193792"/>
            <a:chExt cx="3209544" cy="310896"/>
          </a:xfrm>
        </p:grpSpPr>
        <p:sp>
          <p:nvSpPr>
            <p:cNvPr id="78" name="Shape 75"/>
            <p:cNvSpPr/>
            <p:nvPr/>
          </p:nvSpPr>
          <p:spPr>
            <a:xfrm>
              <a:off x="4143756" y="5212080"/>
              <a:ext cx="91440" cy="274320"/>
            </a:xfrm>
            <a:prstGeom prst="rect">
              <a:avLst/>
            </a:prstGeom>
            <a:solidFill>
              <a:srgbClr val="F59E0B"/>
            </a:solidFill>
            <a:ln/>
          </p:spPr>
        </p:sp>
        <p:sp>
          <p:nvSpPr>
            <p:cNvPr id="79" name="Text 76"/>
            <p:cNvSpPr/>
            <p:nvPr/>
          </p:nvSpPr>
          <p:spPr>
            <a:xfrm>
              <a:off x="4290060" y="519379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59E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Borders — s_borders() / s_border()</a:t>
              </a:r>
              <a:endParaRPr lang="en-US" sz="1200" dirty="0"/>
            </a:p>
          </p:txBody>
        </p:sp>
      </p:grpSp>
      <p:sp>
        <p:nvSpPr>
          <p:cNvPr id="80" name="Shape 77"/>
          <p:cNvSpPr/>
          <p:nvPr/>
        </p:nvSpPr>
        <p:spPr>
          <a:xfrm>
            <a:off x="4162044" y="5468112"/>
            <a:ext cx="3172968" cy="131673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4253484" y="552297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add_style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id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"border"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82" name="Text 79"/>
          <p:cNvSpPr/>
          <p:nvPr/>
        </p:nvSpPr>
        <p:spPr>
          <a:xfrm>
            <a:off x="4253484" y="567385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s_table_style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(borders =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s_borders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750" dirty="0"/>
          </a:p>
        </p:txBody>
      </p:sp>
      <p:sp>
        <p:nvSpPr>
          <p:cNvPr id="83" name="Text 80"/>
          <p:cNvSpPr/>
          <p:nvPr/>
        </p:nvSpPr>
        <p:spPr>
          <a:xfrm>
            <a:off x="4253484" y="582472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top =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s_border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(color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"grey40"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84" name="Text 81"/>
          <p:cNvSpPr/>
          <p:nvPr/>
        </p:nvSpPr>
        <p:spPr>
          <a:xfrm>
            <a:off x="4253484" y="597560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width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"1pt"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85" name="Text 82"/>
          <p:cNvSpPr/>
          <p:nvPr/>
        </p:nvSpPr>
        <p:spPr>
          <a:xfrm>
            <a:off x="4253484" y="612648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line_style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"single"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750" dirty="0"/>
          </a:p>
        </p:txBody>
      </p:sp>
      <p:sp>
        <p:nvSpPr>
          <p:cNvPr id="86" name="Text 83"/>
          <p:cNvSpPr/>
          <p:nvPr/>
        </p:nvSpPr>
        <p:spPr>
          <a:xfrm>
            <a:off x="4253484" y="627735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bottom =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s_border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(color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"#333"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87" name="Text 84"/>
          <p:cNvSpPr/>
          <p:nvPr/>
        </p:nvSpPr>
        <p:spPr>
          <a:xfrm>
            <a:off x="4253484" y="642823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width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"2pt"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88" name="Text 85"/>
          <p:cNvSpPr/>
          <p:nvPr/>
        </p:nvSpPr>
        <p:spPr>
          <a:xfrm>
            <a:off x="4253484" y="657910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line_style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"thick"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))))</a:t>
            </a:r>
            <a:endParaRPr lang="en-US" sz="750" dirty="0"/>
          </a:p>
        </p:txBody>
      </p:sp>
      <p:sp>
        <p:nvSpPr>
          <p:cNvPr id="89" name="Text 86"/>
          <p:cNvSpPr/>
          <p:nvPr/>
        </p:nvSpPr>
        <p:spPr>
          <a:xfrm>
            <a:off x="4162044" y="6793992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 styles: single, double, dashed, dotted, thick, none</a:t>
            </a:r>
            <a:endParaRPr lang="en-US" sz="700" dirty="0"/>
          </a:p>
        </p:txBody>
      </p:sp>
      <p:sp>
        <p:nvSpPr>
          <p:cNvPr id="90" name="Shape 87"/>
          <p:cNvSpPr/>
          <p:nvPr/>
        </p:nvSpPr>
        <p:spPr>
          <a:xfrm>
            <a:off x="4034028" y="7086600"/>
            <a:ext cx="34290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4143756" y="7178040"/>
            <a:ext cx="9144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2" name="Text 89"/>
          <p:cNvSpPr/>
          <p:nvPr/>
        </p:nvSpPr>
        <p:spPr>
          <a:xfrm>
            <a:off x="4290060" y="715975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Properties — set_document()</a:t>
            </a:r>
            <a:endParaRPr lang="en-US" sz="1200" dirty="0"/>
          </a:p>
        </p:txBody>
      </p:sp>
      <p:sp>
        <p:nvSpPr>
          <p:cNvPr id="93" name="Shape 90"/>
          <p:cNvSpPr/>
          <p:nvPr/>
        </p:nvSpPr>
        <p:spPr>
          <a:xfrm>
            <a:off x="4162044" y="7434072"/>
            <a:ext cx="3172968" cy="116586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4253484" y="748893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set_document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</a:t>
            </a:r>
            <a:endParaRPr lang="en-US" sz="750" dirty="0"/>
          </a:p>
        </p:txBody>
      </p:sp>
      <p:sp>
        <p:nvSpPr>
          <p:cNvPr id="95" name="Text 92"/>
          <p:cNvSpPr/>
          <p:nvPr/>
        </p:nvSpPr>
        <p:spPr>
          <a:xfrm>
            <a:off x="4253484" y="763981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hasData = 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96" name="Text 93"/>
          <p:cNvSpPr/>
          <p:nvPr/>
        </p:nvSpPr>
        <p:spPr>
          <a:xfrm>
            <a:off x="4253484" y="779068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contentWidth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"95%"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97" name="Text 94"/>
          <p:cNvSpPr/>
          <p:nvPr/>
        </p:nvSpPr>
        <p:spPr>
          <a:xfrm>
            <a:off x="4253484" y="794156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bodyTitles = 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98" name="Text 95"/>
          <p:cNvSpPr/>
          <p:nvPr/>
        </p:nvSpPr>
        <p:spPr>
          <a:xfrm>
            <a:off x="4253484" y="809244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footnotePlace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"repeated"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99" name="Text 96"/>
          <p:cNvSpPr/>
          <p:nvPr/>
        </p:nvSpPr>
        <p:spPr>
          <a:xfrm>
            <a:off x="4253484" y="824331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glueNumType = 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100" name="Text 97"/>
          <p:cNvSpPr/>
          <p:nvPr/>
        </p:nvSpPr>
        <p:spPr>
          <a:xfrm>
            <a:off x="4253484" y="839419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isContinues = 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101" name="Text 98"/>
          <p:cNvSpPr/>
          <p:nvPr/>
        </p:nvSpPr>
        <p:spPr>
          <a:xfrm>
            <a:off x="4162044" y="8600694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calls merge (last-win). Pairs well with set_page_style().</a:t>
            </a:r>
            <a:endParaRPr lang="en-US" sz="700" dirty="0"/>
          </a:p>
        </p:txBody>
      </p:sp>
      <p:sp>
        <p:nvSpPr>
          <p:cNvPr id="102" name="Shape 99"/>
          <p:cNvSpPr/>
          <p:nvPr/>
        </p:nvSpPr>
        <p:spPr>
          <a:xfrm>
            <a:off x="4034028" y="8915400"/>
            <a:ext cx="3429000" cy="138348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3" name="Shape 100"/>
          <p:cNvSpPr/>
          <p:nvPr/>
        </p:nvSpPr>
        <p:spPr>
          <a:xfrm>
            <a:off x="4143756" y="9006840"/>
            <a:ext cx="91440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4" name="Text 101"/>
          <p:cNvSpPr/>
          <p:nvPr/>
        </p:nvSpPr>
        <p:spPr>
          <a:xfrm>
            <a:off x="4290060" y="898855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Allowed Color Names</a:t>
            </a:r>
            <a:endParaRPr lang="en-US" sz="1200" dirty="0"/>
          </a:p>
        </p:txBody>
      </p:sp>
      <p:sp>
        <p:nvSpPr>
          <p:cNvPr id="105" name="Text 102"/>
          <p:cNvSpPr/>
          <p:nvPr/>
        </p:nvSpPr>
        <p:spPr>
          <a:xfrm>
            <a:off x="4162044" y="9317736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Basic:</a:t>
            </a:r>
            <a:endParaRPr lang="en-US" sz="650" dirty="0"/>
          </a:p>
        </p:txBody>
      </p:sp>
      <p:sp>
        <p:nvSpPr>
          <p:cNvPr id="106" name="Shape 103"/>
          <p:cNvSpPr/>
          <p:nvPr/>
        </p:nvSpPr>
        <p:spPr>
          <a:xfrm>
            <a:off x="4683252" y="9326880"/>
            <a:ext cx="146304" cy="109728"/>
          </a:xfrm>
          <a:prstGeom prst="rect">
            <a:avLst/>
          </a:prstGeom>
          <a:solidFill>
            <a:srgbClr val="00000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4806696" y="9326880"/>
            <a:ext cx="146304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4930140" y="9326880"/>
            <a:ext cx="146304" cy="109728"/>
          </a:xfrm>
          <a:prstGeom prst="rect">
            <a:avLst/>
          </a:prstGeom>
          <a:solidFill>
            <a:srgbClr val="FF000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5053584" y="9326880"/>
            <a:ext cx="146304" cy="109728"/>
          </a:xfrm>
          <a:prstGeom prst="rect">
            <a:avLst/>
          </a:prstGeom>
          <a:solidFill>
            <a:srgbClr val="00800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5177028" y="9326880"/>
            <a:ext cx="146304" cy="109728"/>
          </a:xfrm>
          <a:prstGeom prst="rect">
            <a:avLst/>
          </a:prstGeom>
          <a:solidFill>
            <a:srgbClr val="0000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5300472" y="9326880"/>
            <a:ext cx="146304" cy="109728"/>
          </a:xfrm>
          <a:prstGeom prst="rect">
            <a:avLst/>
          </a:prstGeom>
          <a:solidFill>
            <a:srgbClr val="FFFF0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5423916" y="9326880"/>
            <a:ext cx="146304" cy="109728"/>
          </a:xfrm>
          <a:prstGeom prst="rect">
            <a:avLst/>
          </a:prstGeom>
          <a:solidFill>
            <a:srgbClr val="FFA50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5547360" y="9326880"/>
            <a:ext cx="146304" cy="109728"/>
          </a:xfrm>
          <a:prstGeom prst="rect">
            <a:avLst/>
          </a:prstGeom>
          <a:solidFill>
            <a:srgbClr val="80008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4162044" y="9454896"/>
            <a:ext cx="31729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black, white, red, green, blue, yellow, orange, purple</a:t>
            </a:r>
            <a:endParaRPr lang="en-US" sz="550" dirty="0"/>
          </a:p>
        </p:txBody>
      </p:sp>
      <p:sp>
        <p:nvSpPr>
          <p:cNvPr id="115" name="Text 112"/>
          <p:cNvSpPr/>
          <p:nvPr/>
        </p:nvSpPr>
        <p:spPr>
          <a:xfrm>
            <a:off x="4162044" y="9573768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Extended:</a:t>
            </a:r>
            <a:endParaRPr lang="en-US" sz="650" dirty="0"/>
          </a:p>
        </p:txBody>
      </p:sp>
      <p:sp>
        <p:nvSpPr>
          <p:cNvPr id="116" name="Shape 113"/>
          <p:cNvSpPr/>
          <p:nvPr/>
        </p:nvSpPr>
        <p:spPr>
          <a:xfrm>
            <a:off x="4683252" y="9582912"/>
            <a:ext cx="146304" cy="109728"/>
          </a:xfrm>
          <a:prstGeom prst="rect">
            <a:avLst/>
          </a:prstGeom>
          <a:solidFill>
            <a:srgbClr val="FFC0CB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4806696" y="9582912"/>
            <a:ext cx="146304" cy="109728"/>
          </a:xfrm>
          <a:prstGeom prst="rect">
            <a:avLst/>
          </a:prstGeom>
          <a:solidFill>
            <a:srgbClr val="A52A2A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4930140" y="9582912"/>
            <a:ext cx="146304" cy="109728"/>
          </a:xfrm>
          <a:prstGeom prst="rect">
            <a:avLst/>
          </a:prstGeom>
          <a:solidFill>
            <a:srgbClr val="00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5053584" y="9582912"/>
            <a:ext cx="146304" cy="109728"/>
          </a:xfrm>
          <a:prstGeom prst="rect">
            <a:avLst/>
          </a:prstGeom>
          <a:solidFill>
            <a:srgbClr val="FF00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5177028" y="9582912"/>
            <a:ext cx="146304" cy="109728"/>
          </a:xfrm>
          <a:prstGeom prst="rect">
            <a:avLst/>
          </a:prstGeom>
          <a:solidFill>
            <a:srgbClr val="00008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5300472" y="9582912"/>
            <a:ext cx="146304" cy="109728"/>
          </a:xfrm>
          <a:prstGeom prst="rect">
            <a:avLst/>
          </a:prstGeom>
          <a:solidFill>
            <a:srgbClr val="00808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5423916" y="9582912"/>
            <a:ext cx="146304" cy="109728"/>
          </a:xfrm>
          <a:prstGeom prst="rect">
            <a:avLst/>
          </a:prstGeom>
          <a:solidFill>
            <a:srgbClr val="00FF0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5547360" y="9582912"/>
            <a:ext cx="146304" cy="109728"/>
          </a:xfrm>
          <a:prstGeom prst="rect">
            <a:avLst/>
          </a:prstGeom>
          <a:solidFill>
            <a:srgbClr val="80000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4" name="Text 121"/>
          <p:cNvSpPr/>
          <p:nvPr/>
        </p:nvSpPr>
        <p:spPr>
          <a:xfrm>
            <a:off x="4162044" y="9710928"/>
            <a:ext cx="31729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pink, brown, cyan, magenta, navy, teal, lime, maroon</a:t>
            </a:r>
            <a:endParaRPr lang="en-US" sz="550" dirty="0"/>
          </a:p>
        </p:txBody>
      </p:sp>
      <p:sp>
        <p:nvSpPr>
          <p:cNvPr id="125" name="Text 122"/>
          <p:cNvSpPr/>
          <p:nvPr/>
        </p:nvSpPr>
        <p:spPr>
          <a:xfrm>
            <a:off x="4162044" y="982980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Named:</a:t>
            </a:r>
            <a:endParaRPr lang="en-US" sz="650" dirty="0"/>
          </a:p>
        </p:txBody>
      </p:sp>
      <p:sp>
        <p:nvSpPr>
          <p:cNvPr id="126" name="Shape 123"/>
          <p:cNvSpPr/>
          <p:nvPr/>
        </p:nvSpPr>
        <p:spPr>
          <a:xfrm>
            <a:off x="4683252" y="9838944"/>
            <a:ext cx="146304" cy="109728"/>
          </a:xfrm>
          <a:prstGeom prst="rect">
            <a:avLst/>
          </a:prstGeom>
          <a:solidFill>
            <a:srgbClr val="80800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4806696" y="9838944"/>
            <a:ext cx="146304" cy="109728"/>
          </a:xfrm>
          <a:prstGeom prst="rect">
            <a:avLst/>
          </a:prstGeom>
          <a:solidFill>
            <a:srgbClr val="C0C0C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4930140" y="9838944"/>
            <a:ext cx="146304" cy="109728"/>
          </a:xfrm>
          <a:prstGeom prst="rect">
            <a:avLst/>
          </a:prstGeom>
          <a:solidFill>
            <a:srgbClr val="FFD70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5053584" y="9838944"/>
            <a:ext cx="146304" cy="109728"/>
          </a:xfrm>
          <a:prstGeom prst="rect">
            <a:avLst/>
          </a:prstGeom>
          <a:solidFill>
            <a:srgbClr val="FF7F5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5177028" y="9838944"/>
            <a:ext cx="146304" cy="109728"/>
          </a:xfrm>
          <a:prstGeom prst="rect">
            <a:avLst/>
          </a:prstGeom>
          <a:solidFill>
            <a:srgbClr val="FA8072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5300472" y="9838944"/>
            <a:ext cx="146304" cy="109728"/>
          </a:xfrm>
          <a:prstGeom prst="rect">
            <a:avLst/>
          </a:prstGeom>
          <a:solidFill>
            <a:srgbClr val="40E0D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5423916" y="9838944"/>
            <a:ext cx="146304" cy="109728"/>
          </a:xfrm>
          <a:prstGeom prst="rect">
            <a:avLst/>
          </a:prstGeom>
          <a:solidFill>
            <a:srgbClr val="EE82EE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5547360" y="9838944"/>
            <a:ext cx="146304" cy="109728"/>
          </a:xfrm>
          <a:prstGeom prst="rect">
            <a:avLst/>
          </a:prstGeom>
          <a:solidFill>
            <a:srgbClr val="4B0082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4" name="Text 131"/>
          <p:cNvSpPr/>
          <p:nvPr/>
        </p:nvSpPr>
        <p:spPr>
          <a:xfrm>
            <a:off x="4162044" y="9966960"/>
            <a:ext cx="31729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olive, silver, gold, coral, salmon, turquoise, violet, indigo</a:t>
            </a:r>
            <a:endParaRPr lang="en-US" sz="550" dirty="0"/>
          </a:p>
        </p:txBody>
      </p:sp>
      <p:sp>
        <p:nvSpPr>
          <p:cNvPr id="135" name="Text 132"/>
          <p:cNvSpPr/>
          <p:nvPr/>
        </p:nvSpPr>
        <p:spPr>
          <a:xfrm>
            <a:off x="4162044" y="10085832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Gray:</a:t>
            </a:r>
            <a:endParaRPr lang="en-US" sz="650" dirty="0"/>
          </a:p>
        </p:txBody>
      </p:sp>
      <p:sp>
        <p:nvSpPr>
          <p:cNvPr id="136" name="Shape 133"/>
          <p:cNvSpPr/>
          <p:nvPr/>
        </p:nvSpPr>
        <p:spPr>
          <a:xfrm>
            <a:off x="4683252" y="10094976"/>
            <a:ext cx="146304" cy="109728"/>
          </a:xfrm>
          <a:prstGeom prst="rect">
            <a:avLst/>
          </a:prstGeom>
          <a:solidFill>
            <a:srgbClr val="1A1A1A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4806696" y="10094976"/>
            <a:ext cx="146304" cy="109728"/>
          </a:xfrm>
          <a:prstGeom prst="rect">
            <a:avLst/>
          </a:prstGeom>
          <a:solidFill>
            <a:srgbClr val="333333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4930140" y="10094976"/>
            <a:ext cx="146304" cy="109728"/>
          </a:xfrm>
          <a:prstGeom prst="rect">
            <a:avLst/>
          </a:prstGeom>
          <a:solidFill>
            <a:srgbClr val="4D4D4D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5053584" y="10094976"/>
            <a:ext cx="146304" cy="109728"/>
          </a:xfrm>
          <a:prstGeom prst="rect">
            <a:avLst/>
          </a:prstGeom>
          <a:solidFill>
            <a:srgbClr val="666666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5177028" y="10094976"/>
            <a:ext cx="146304" cy="109728"/>
          </a:xfrm>
          <a:prstGeom prst="rect">
            <a:avLst/>
          </a:prstGeom>
          <a:solidFill>
            <a:srgbClr val="80808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5300472" y="10094976"/>
            <a:ext cx="146304" cy="109728"/>
          </a:xfrm>
          <a:prstGeom prst="rect">
            <a:avLst/>
          </a:prstGeom>
          <a:solidFill>
            <a:srgbClr val="99999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5423916" y="10094976"/>
            <a:ext cx="146304" cy="109728"/>
          </a:xfrm>
          <a:prstGeom prst="rect">
            <a:avLst/>
          </a:prstGeom>
          <a:solidFill>
            <a:srgbClr val="B3B3B3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5547360" y="10094976"/>
            <a:ext cx="146304" cy="109728"/>
          </a:xfrm>
          <a:prstGeom prst="rect">
            <a:avLst/>
          </a:prstGeom>
          <a:solidFill>
            <a:srgbClr val="CCCCC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5670804" y="10094976"/>
            <a:ext cx="146304" cy="109728"/>
          </a:xfrm>
          <a:prstGeom prst="rect">
            <a:avLst/>
          </a:prstGeom>
          <a:solidFill>
            <a:srgbClr val="E6E6E6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45" name="Text 142"/>
          <p:cNvSpPr/>
          <p:nvPr/>
        </p:nvSpPr>
        <p:spPr>
          <a:xfrm>
            <a:off x="4162044" y="10222992"/>
            <a:ext cx="31729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grey10 … grey90</a:t>
            </a:r>
            <a:endParaRPr lang="en-US" sz="550" dirty="0"/>
          </a:p>
        </p:txBody>
      </p:sp>
      <p:sp>
        <p:nvSpPr>
          <p:cNvPr id="146" name="Shape 143"/>
          <p:cNvSpPr/>
          <p:nvPr/>
        </p:nvSpPr>
        <p:spPr>
          <a:xfrm>
            <a:off x="7656576" y="1143000"/>
            <a:ext cx="342900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453868C7-919C-748D-6BE6-35DD2F7A8505}"/>
              </a:ext>
            </a:extLst>
          </p:cNvPr>
          <p:cNvGrpSpPr/>
          <p:nvPr/>
        </p:nvGrpSpPr>
        <p:grpSpPr>
          <a:xfrm>
            <a:off x="7766304" y="1190752"/>
            <a:ext cx="3209544" cy="310896"/>
            <a:chOff x="7766304" y="1216152"/>
            <a:chExt cx="3209544" cy="310896"/>
          </a:xfrm>
        </p:grpSpPr>
        <p:sp>
          <p:nvSpPr>
            <p:cNvPr id="147" name="Shape 144"/>
            <p:cNvSpPr/>
            <p:nvPr/>
          </p:nvSpPr>
          <p:spPr>
            <a:xfrm>
              <a:off x="7766304" y="1234440"/>
              <a:ext cx="91440" cy="274320"/>
            </a:xfrm>
            <a:prstGeom prst="rect">
              <a:avLst/>
            </a:prstGeom>
            <a:solidFill>
              <a:srgbClr val="0EA5E9"/>
            </a:solidFill>
            <a:ln/>
          </p:spPr>
        </p:sp>
        <p:sp>
          <p:nvSpPr>
            <p:cNvPr id="148" name="Text 145"/>
            <p:cNvSpPr/>
            <p:nvPr/>
          </p:nvSpPr>
          <p:spPr>
            <a:xfrm>
              <a:off x="7912608" y="121615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EA5E9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Text Manipulation — c_glue() Details</a:t>
              </a:r>
              <a:endParaRPr lang="en-US" sz="1200" dirty="0"/>
            </a:p>
          </p:txBody>
        </p:sp>
      </p:grpSp>
      <p:sp>
        <p:nvSpPr>
          <p:cNvPr id="149" name="Text 146"/>
          <p:cNvSpPr/>
          <p:nvPr/>
        </p:nvSpPr>
        <p:spPr>
          <a:xfrm>
            <a:off x="7784592" y="150876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 or prepend text to cell values: glue a literal string or another column value.</a:t>
            </a:r>
            <a:endParaRPr lang="en-US" sz="750" dirty="0"/>
          </a:p>
        </p:txBody>
      </p:sp>
      <p:sp>
        <p:nvSpPr>
          <p:cNvPr id="150" name="Shape 147"/>
          <p:cNvSpPr/>
          <p:nvPr/>
        </p:nvSpPr>
        <p:spPr>
          <a:xfrm>
            <a:off x="7784592" y="1759204"/>
            <a:ext cx="3172968" cy="146761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1" name="Text 148"/>
          <p:cNvSpPr/>
          <p:nvPr/>
        </p:nvSpPr>
        <p:spPr>
          <a:xfrm>
            <a:off x="7876032" y="180136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Append units from another column</a:t>
            </a:r>
            <a:endParaRPr lang="en-US" sz="750" dirty="0"/>
          </a:p>
        </p:txBody>
      </p:sp>
      <p:sp>
        <p:nvSpPr>
          <p:cNvPr id="152" name="Text 149"/>
          <p:cNvSpPr/>
          <p:nvPr/>
        </p:nvSpPr>
        <p:spPr>
          <a:xfrm>
            <a:off x="7876032" y="195224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compute_cols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153" name="Text 150"/>
          <p:cNvSpPr/>
          <p:nvPr/>
        </p:nvSpPr>
        <p:spPr>
          <a:xfrm>
            <a:off x="7876032" y="210312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c_glue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(value, position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"after"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154" name="Text 151"/>
          <p:cNvSpPr/>
          <p:nvPr/>
        </p:nvSpPr>
        <p:spPr>
          <a:xfrm>
            <a:off x="7876032" y="225399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glue_col = unit, separator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750" dirty="0"/>
          </a:p>
        </p:txBody>
      </p:sp>
      <p:sp>
        <p:nvSpPr>
          <p:cNvPr id="155" name="Text 152"/>
          <p:cNvSpPr/>
          <p:nvPr/>
        </p:nvSpPr>
        <p:spPr>
          <a:xfrm>
            <a:off x="7876032" y="240487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56" name="Text 153"/>
          <p:cNvSpPr/>
          <p:nvPr/>
        </p:nvSpPr>
        <p:spPr>
          <a:xfrm>
            <a:off x="7876032" y="255574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Prepend literal text</a:t>
            </a:r>
            <a:endParaRPr lang="en-US" sz="750" dirty="0"/>
          </a:p>
        </p:txBody>
      </p:sp>
      <p:sp>
        <p:nvSpPr>
          <p:cNvPr id="157" name="Text 154"/>
          <p:cNvSpPr/>
          <p:nvPr/>
        </p:nvSpPr>
        <p:spPr>
          <a:xfrm>
            <a:off x="7876032" y="270662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compute_cols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rowNumber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== 1,</a:t>
            </a:r>
            <a:endParaRPr lang="en-US" sz="750" dirty="0"/>
          </a:p>
        </p:txBody>
      </p:sp>
      <p:sp>
        <p:nvSpPr>
          <p:cNvPr id="158" name="Text 155"/>
          <p:cNvSpPr/>
          <p:nvPr/>
        </p:nvSpPr>
        <p:spPr>
          <a:xfrm>
            <a:off x="7876032" y="285750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c_glue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(name, position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"before"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159" name="Text 156"/>
          <p:cNvSpPr/>
          <p:nvPr/>
        </p:nvSpPr>
        <p:spPr>
          <a:xfrm>
            <a:off x="7876032" y="300837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"** 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separator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750" dirty="0"/>
          </a:p>
        </p:txBody>
      </p:sp>
      <p:sp>
        <p:nvSpPr>
          <p:cNvPr id="160" name="Shape 157"/>
          <p:cNvSpPr/>
          <p:nvPr/>
        </p:nvSpPr>
        <p:spPr>
          <a:xfrm>
            <a:off x="7656576" y="3611880"/>
            <a:ext cx="34290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F38A8097-6D67-7841-DA87-BE2322153C5D}"/>
              </a:ext>
            </a:extLst>
          </p:cNvPr>
          <p:cNvGrpSpPr/>
          <p:nvPr/>
        </p:nvGrpSpPr>
        <p:grpSpPr>
          <a:xfrm>
            <a:off x="7766304" y="3653282"/>
            <a:ext cx="3209544" cy="310896"/>
            <a:chOff x="7766304" y="3685032"/>
            <a:chExt cx="3209544" cy="310896"/>
          </a:xfrm>
        </p:grpSpPr>
        <p:sp>
          <p:nvSpPr>
            <p:cNvPr id="161" name="Shape 158"/>
            <p:cNvSpPr/>
            <p:nvPr/>
          </p:nvSpPr>
          <p:spPr>
            <a:xfrm>
              <a:off x="7766304" y="3703320"/>
              <a:ext cx="91440" cy="274320"/>
            </a:xfrm>
            <a:prstGeom prst="rect">
              <a:avLst/>
            </a:prstGeom>
            <a:solidFill>
              <a:srgbClr val="10B981"/>
            </a:solidFill>
            <a:ln/>
          </p:spPr>
        </p:sp>
        <p:sp>
          <p:nvSpPr>
            <p:cNvPr id="162" name="Text 159"/>
            <p:cNvSpPr/>
            <p:nvPr/>
          </p:nvSpPr>
          <p:spPr>
            <a:xfrm>
              <a:off x="7912608" y="368503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0B981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Multi-Spec Report Workflow</a:t>
              </a:r>
              <a:endParaRPr lang="en-US" sz="1200" dirty="0"/>
            </a:p>
          </p:txBody>
        </p:sp>
      </p:grpSp>
      <p:sp>
        <p:nvSpPr>
          <p:cNvPr id="163" name="Text 160"/>
          <p:cNvSpPr/>
          <p:nvPr/>
        </p:nvSpPr>
        <p:spPr>
          <a:xfrm>
            <a:off x="7784592" y="396494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Combine table + figure + text specs into one document. Specs rendered in order with page breaks.</a:t>
            </a:r>
            <a:endParaRPr lang="en-US" sz="750" dirty="0"/>
          </a:p>
        </p:txBody>
      </p:sp>
      <p:sp>
        <p:nvSpPr>
          <p:cNvPr id="164" name="Shape 161"/>
          <p:cNvSpPr/>
          <p:nvPr/>
        </p:nvSpPr>
        <p:spPr>
          <a:xfrm>
            <a:off x="7784592" y="4215384"/>
            <a:ext cx="3172968" cy="176936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5" name="Text 162"/>
          <p:cNvSpPr/>
          <p:nvPr/>
        </p:nvSpPr>
        <p:spPr>
          <a:xfrm>
            <a:off x="7876032" y="427024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individual specs</a:t>
            </a:r>
            <a:endParaRPr lang="en-US" sz="750" dirty="0"/>
          </a:p>
        </p:txBody>
      </p:sp>
      <p:sp>
        <p:nvSpPr>
          <p:cNvPr id="166" name="Text 163"/>
          <p:cNvSpPr/>
          <p:nvPr/>
        </p:nvSpPr>
        <p:spPr>
          <a:xfrm>
            <a:off x="7876032" y="442112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spec_tbl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create_table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(demog)</a:t>
            </a:r>
            <a:endParaRPr lang="en-US" sz="750" dirty="0"/>
          </a:p>
        </p:txBody>
      </p:sp>
      <p:sp>
        <p:nvSpPr>
          <p:cNvPr id="167" name="Text 164"/>
          <p:cNvSpPr/>
          <p:nvPr/>
        </p:nvSpPr>
        <p:spPr>
          <a:xfrm>
            <a:off x="7876032" y="457200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spec_fig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create_figure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(p)</a:t>
            </a:r>
            <a:endParaRPr lang="en-US" sz="750" dirty="0"/>
          </a:p>
        </p:txBody>
      </p:sp>
      <p:sp>
        <p:nvSpPr>
          <p:cNvPr id="168" name="Text 165"/>
          <p:cNvSpPr/>
          <p:nvPr/>
        </p:nvSpPr>
        <p:spPr>
          <a:xfrm>
            <a:off x="7876032" y="472287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spec_txt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create_text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|&gt;</a:t>
            </a:r>
            <a:endParaRPr lang="en-US" sz="750" dirty="0"/>
          </a:p>
        </p:txBody>
      </p:sp>
      <p:sp>
        <p:nvSpPr>
          <p:cNvPr id="169" name="Text 166"/>
          <p:cNvSpPr/>
          <p:nvPr/>
        </p:nvSpPr>
        <p:spPr>
          <a:xfrm>
            <a:off x="7876032" y="487375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add_body_text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"Narrative text."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170" name="Text 167"/>
          <p:cNvSpPr/>
          <p:nvPr/>
        </p:nvSpPr>
        <p:spPr>
          <a:xfrm>
            <a:off x="7876032" y="502462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71" name="Text 168"/>
          <p:cNvSpPr/>
          <p:nvPr/>
        </p:nvSpPr>
        <p:spPr>
          <a:xfrm>
            <a:off x="7876032" y="517550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Combine and render</a:t>
            </a:r>
            <a:endParaRPr lang="en-US" sz="750" dirty="0"/>
          </a:p>
        </p:txBody>
      </p:sp>
      <p:sp>
        <p:nvSpPr>
          <p:cNvPr id="172" name="Text 169"/>
          <p:cNvSpPr/>
          <p:nvPr/>
        </p:nvSpPr>
        <p:spPr>
          <a:xfrm>
            <a:off x="7876032" y="532638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create_report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750" dirty="0"/>
          </a:p>
        </p:txBody>
      </p:sp>
      <p:sp>
        <p:nvSpPr>
          <p:cNvPr id="173" name="Text 170"/>
          <p:cNvSpPr/>
          <p:nvPr/>
        </p:nvSpPr>
        <p:spPr>
          <a:xfrm>
            <a:off x="7876032" y="547725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spec_tbl, spec_fig, spec_txt)</a:t>
            </a:r>
            <a:endParaRPr lang="en-US" sz="750" dirty="0"/>
          </a:p>
        </p:txBody>
      </p:sp>
      <p:sp>
        <p:nvSpPr>
          <p:cNvPr id="174" name="Text 171"/>
          <p:cNvSpPr/>
          <p:nvPr/>
        </p:nvSpPr>
        <p:spPr>
          <a:xfrm>
            <a:off x="7876032" y="562813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write_doc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(report, name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"combined"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toc = TRUE,</a:t>
            </a:r>
            <a:endParaRPr lang="en-US" sz="750" dirty="0"/>
          </a:p>
        </p:txBody>
      </p:sp>
      <p:sp>
        <p:nvSpPr>
          <p:cNvPr id="175" name="Text 172"/>
          <p:cNvSpPr/>
          <p:nvPr/>
        </p:nvSpPr>
        <p:spPr>
          <a:xfrm>
            <a:off x="7876032" y="577900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outDir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"./out"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176" name="Shape 173"/>
          <p:cNvSpPr/>
          <p:nvPr/>
        </p:nvSpPr>
        <p:spPr>
          <a:xfrm>
            <a:off x="7656576" y="6126480"/>
            <a:ext cx="3429000" cy="417240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7" name="Shape 174"/>
          <p:cNvSpPr/>
          <p:nvPr/>
        </p:nvSpPr>
        <p:spPr>
          <a:xfrm>
            <a:off x="7656576" y="6126480"/>
            <a:ext cx="3429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8" name="Shape 175"/>
          <p:cNvSpPr/>
          <p:nvPr/>
        </p:nvSpPr>
        <p:spPr>
          <a:xfrm>
            <a:off x="7665720" y="6153912"/>
            <a:ext cx="3410712" cy="36576"/>
          </a:xfrm>
          <a:prstGeom prst="rect">
            <a:avLst/>
          </a:prstGeom>
          <a:solidFill>
            <a:srgbClr val="0D9488"/>
          </a:solidFill>
          <a:ln/>
        </p:spPr>
      </p: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7FFFFB66-1E5F-37E0-8501-1A9CEF1FD7D5}"/>
              </a:ext>
            </a:extLst>
          </p:cNvPr>
          <p:cNvGrpSpPr/>
          <p:nvPr/>
        </p:nvGrpSpPr>
        <p:grpSpPr>
          <a:xfrm>
            <a:off x="7766304" y="6222746"/>
            <a:ext cx="3209544" cy="310896"/>
            <a:chOff x="7766304" y="6254496"/>
            <a:chExt cx="3209544" cy="310896"/>
          </a:xfrm>
        </p:grpSpPr>
        <p:sp>
          <p:nvSpPr>
            <p:cNvPr id="179" name="Shape 176"/>
            <p:cNvSpPr/>
            <p:nvPr/>
          </p:nvSpPr>
          <p:spPr>
            <a:xfrm>
              <a:off x="7766304" y="6272784"/>
              <a:ext cx="91440" cy="274320"/>
            </a:xfrm>
            <a:prstGeom prst="rect">
              <a:avLst/>
            </a:prstGeom>
            <a:solidFill>
              <a:srgbClr val="0D9488"/>
            </a:solidFill>
            <a:ln/>
          </p:spPr>
        </p:sp>
        <p:sp>
          <p:nvSpPr>
            <p:cNvPr id="180" name="Text 177"/>
            <p:cNvSpPr/>
            <p:nvPr/>
          </p:nvSpPr>
          <p:spPr>
            <a:xfrm>
              <a:off x="7912608" y="6254496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D948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Full Clinical Table — End to End</a:t>
              </a:r>
              <a:endParaRPr lang="en-US" sz="1200" dirty="0"/>
            </a:p>
          </p:txBody>
        </p:sp>
      </p:grpSp>
      <p:sp>
        <p:nvSpPr>
          <p:cNvPr id="181" name="Shape 178"/>
          <p:cNvSpPr/>
          <p:nvPr/>
        </p:nvSpPr>
        <p:spPr>
          <a:xfrm>
            <a:off x="7784592" y="6547104"/>
            <a:ext cx="3172968" cy="297637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2" name="Text 179"/>
          <p:cNvSpPr/>
          <p:nvPr/>
        </p:nvSpPr>
        <p:spPr>
          <a:xfrm>
            <a:off x="7876032" y="660196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create_table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(labs,</a:t>
            </a:r>
            <a:endParaRPr lang="en-US" sz="750" dirty="0"/>
          </a:p>
        </p:txBody>
      </p:sp>
      <p:sp>
        <p:nvSpPr>
          <p:cNvPr id="183" name="Text 180"/>
          <p:cNvSpPr/>
          <p:nvPr/>
        </p:nvSpPr>
        <p:spPr>
          <a:xfrm>
            <a:off x="7876032" y="675284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cols = 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(subject_id, ALT, AST)) |&gt;</a:t>
            </a:r>
            <a:endParaRPr lang="en-US" sz="750" dirty="0"/>
          </a:p>
        </p:txBody>
      </p:sp>
      <p:sp>
        <p:nvSpPr>
          <p:cNvPr id="184" name="Text 181"/>
          <p:cNvSpPr/>
          <p:nvPr/>
        </p:nvSpPr>
        <p:spPr>
          <a:xfrm>
            <a:off x="7876032" y="690372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add_style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(id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"hdr"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185" name="Text 182"/>
          <p:cNvSpPr/>
          <p:nvPr/>
        </p:nvSpPr>
        <p:spPr>
          <a:xfrm>
            <a:off x="7876032" y="705459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s_font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(bold = 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color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"#FFF"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750" dirty="0"/>
          </a:p>
        </p:txBody>
      </p:sp>
      <p:sp>
        <p:nvSpPr>
          <p:cNvPr id="186" name="Text 183"/>
          <p:cNvSpPr/>
          <p:nvPr/>
        </p:nvSpPr>
        <p:spPr>
          <a:xfrm>
            <a:off x="7876032" y="720547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s_table_style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750" dirty="0"/>
          </a:p>
        </p:txBody>
      </p:sp>
      <p:sp>
        <p:nvSpPr>
          <p:cNvPr id="187" name="Text 184"/>
          <p:cNvSpPr/>
          <p:nvPr/>
        </p:nvSpPr>
        <p:spPr>
          <a:xfrm>
            <a:off x="7876032" y="735634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background_color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"#003366"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|&gt;</a:t>
            </a:r>
            <a:endParaRPr lang="en-US" sz="750" dirty="0"/>
          </a:p>
        </p:txBody>
      </p:sp>
      <p:sp>
        <p:nvSpPr>
          <p:cNvPr id="188" name="Text 185"/>
          <p:cNvSpPr/>
          <p:nvPr/>
        </p:nvSpPr>
        <p:spPr>
          <a:xfrm>
            <a:off x="7876032" y="750722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add_style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(id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"num"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189" name="Text 186"/>
          <p:cNvSpPr/>
          <p:nvPr/>
        </p:nvSpPr>
        <p:spPr>
          <a:xfrm>
            <a:off x="7876032" y="765810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s_paragraph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(alignment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"right"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|&gt;</a:t>
            </a:r>
            <a:endParaRPr lang="en-US" sz="750" dirty="0"/>
          </a:p>
        </p:txBody>
      </p:sp>
      <p:sp>
        <p:nvSpPr>
          <p:cNvPr id="190" name="Text 187"/>
          <p:cNvSpPr/>
          <p:nvPr/>
        </p:nvSpPr>
        <p:spPr>
          <a:xfrm>
            <a:off x="7876032" y="780897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define_cols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(subject_id, ALT, AST),</a:t>
            </a:r>
            <a:endParaRPr lang="en-US" sz="750" dirty="0"/>
          </a:p>
        </p:txBody>
      </p:sp>
      <p:sp>
        <p:nvSpPr>
          <p:cNvPr id="191" name="Text 188"/>
          <p:cNvSpPr/>
          <p:nvPr/>
        </p:nvSpPr>
        <p:spPr>
          <a:xfrm>
            <a:off x="7876032" y="795985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labelStyleRef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"hdr"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|&gt;</a:t>
            </a:r>
            <a:endParaRPr lang="en-US" sz="750" dirty="0"/>
          </a:p>
        </p:txBody>
      </p:sp>
      <p:sp>
        <p:nvSpPr>
          <p:cNvPr id="192" name="Text 189"/>
          <p:cNvSpPr/>
          <p:nvPr/>
        </p:nvSpPr>
        <p:spPr>
          <a:xfrm>
            <a:off x="7876032" y="811072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define_cols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(ALT, AST),</a:t>
            </a:r>
            <a:endParaRPr lang="en-US" sz="750" dirty="0"/>
          </a:p>
        </p:txBody>
      </p:sp>
      <p:sp>
        <p:nvSpPr>
          <p:cNvPr id="193" name="Text 190"/>
          <p:cNvSpPr/>
          <p:nvPr/>
        </p:nvSpPr>
        <p:spPr>
          <a:xfrm>
            <a:off x="7876032" y="826160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valueStyleRef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"num"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|&gt;</a:t>
            </a:r>
            <a:endParaRPr lang="en-US" sz="750" dirty="0"/>
          </a:p>
        </p:txBody>
      </p:sp>
      <p:sp>
        <p:nvSpPr>
          <p:cNvPr id="194" name="Text 191"/>
          <p:cNvSpPr/>
          <p:nvPr/>
        </p:nvSpPr>
        <p:spPr>
          <a:xfrm>
            <a:off x="7876032" y="841248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add_span_header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(ALT, AST),</a:t>
            </a:r>
            <a:endParaRPr lang="en-US" sz="750" dirty="0"/>
          </a:p>
        </p:txBody>
      </p:sp>
      <p:sp>
        <p:nvSpPr>
          <p:cNvPr id="195" name="Text 192"/>
          <p:cNvSpPr/>
          <p:nvPr/>
        </p:nvSpPr>
        <p:spPr>
          <a:xfrm>
            <a:off x="7876032" y="856335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label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"Lab Results"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|&gt;</a:t>
            </a:r>
            <a:endParaRPr lang="en-US" sz="750" dirty="0"/>
          </a:p>
        </p:txBody>
      </p:sp>
      <p:sp>
        <p:nvSpPr>
          <p:cNvPr id="196" name="Text 193"/>
          <p:cNvSpPr/>
          <p:nvPr/>
        </p:nvSpPr>
        <p:spPr>
          <a:xfrm>
            <a:off x="7876032" y="871423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add_title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"Lab Results"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|&gt;</a:t>
            </a:r>
            <a:endParaRPr lang="en-US" sz="750" dirty="0"/>
          </a:p>
        </p:txBody>
      </p:sp>
      <p:sp>
        <p:nvSpPr>
          <p:cNvPr id="197" name="Text 194"/>
          <p:cNvSpPr/>
          <p:nvPr/>
        </p:nvSpPr>
        <p:spPr>
          <a:xfrm>
            <a:off x="7876032" y="886510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add_footnote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"Values as observed."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198" name="Text 195"/>
          <p:cNvSpPr/>
          <p:nvPr/>
        </p:nvSpPr>
        <p:spPr>
          <a:xfrm>
            <a:off x="7876032" y="901598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99" name="Text 196"/>
          <p:cNvSpPr/>
          <p:nvPr/>
        </p:nvSpPr>
        <p:spPr>
          <a:xfrm>
            <a:off x="7876032" y="916686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write_doc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create_report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(spec),</a:t>
            </a:r>
            <a:endParaRPr lang="en-US" sz="750" dirty="0"/>
          </a:p>
        </p:txBody>
      </p:sp>
      <p:sp>
        <p:nvSpPr>
          <p:cNvPr id="200" name="Text 197"/>
          <p:cNvSpPr/>
          <p:nvPr/>
        </p:nvSpPr>
        <p:spPr>
          <a:xfrm>
            <a:off x="7876032" y="931773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"lab_report"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201" name="Shape 198"/>
          <p:cNvSpPr/>
          <p:nvPr/>
        </p:nvSpPr>
        <p:spPr>
          <a:xfrm>
            <a:off x="11279124" y="1143000"/>
            <a:ext cx="34290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25DD5318-0FB5-1AC5-DA85-61F8638E5EBA}"/>
              </a:ext>
            </a:extLst>
          </p:cNvPr>
          <p:cNvGrpSpPr/>
          <p:nvPr/>
        </p:nvGrpSpPr>
        <p:grpSpPr>
          <a:xfrm>
            <a:off x="11388852" y="1165352"/>
            <a:ext cx="3209544" cy="310896"/>
            <a:chOff x="11388852" y="1216152"/>
            <a:chExt cx="3209544" cy="310896"/>
          </a:xfrm>
        </p:grpSpPr>
        <p:sp>
          <p:nvSpPr>
            <p:cNvPr id="202" name="Shape 199"/>
            <p:cNvSpPr/>
            <p:nvPr/>
          </p:nvSpPr>
          <p:spPr>
            <a:xfrm>
              <a:off x="11388852" y="1234440"/>
              <a:ext cx="91440" cy="274320"/>
            </a:xfrm>
            <a:prstGeom prst="rect">
              <a:avLst/>
            </a:prstGeom>
            <a:solidFill>
              <a:srgbClr val="F59E0B"/>
            </a:solidFill>
            <a:ln/>
          </p:spPr>
        </p:sp>
        <p:sp>
          <p:nvSpPr>
            <p:cNvPr id="203" name="Text 200"/>
            <p:cNvSpPr/>
            <p:nvPr/>
          </p:nvSpPr>
          <p:spPr>
            <a:xfrm>
              <a:off x="11535156" y="121615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59E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Font Management</a:t>
              </a:r>
              <a:endParaRPr lang="en-US" sz="1200" dirty="0"/>
            </a:p>
          </p:txBody>
        </p:sp>
      </p:grpSp>
      <p:sp>
        <p:nvSpPr>
          <p:cNvPr id="204" name="Text 201"/>
          <p:cNvSpPr/>
          <p:nvPr/>
        </p:nvSpPr>
        <p:spPr>
          <a:xfrm>
            <a:off x="11407140" y="143891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fonts auto-discovered at load. Open-source fallbacks bundled for all 6 target families.</a:t>
            </a:r>
            <a:endParaRPr lang="en-US" sz="750" dirty="0"/>
          </a:p>
        </p:txBody>
      </p:sp>
      <p:graphicFrame>
        <p:nvGraphicFramePr>
          <p:cNvPr id="20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409239"/>
              </p:ext>
            </p:extLst>
          </p:nvPr>
        </p:nvGraphicFramePr>
        <p:xfrm>
          <a:off x="11407140" y="1683004"/>
          <a:ext cx="3172968" cy="1536192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2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Target Font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Fallback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Arial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Liberation Sans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Times New Roman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Liberation Serif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Courier New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Liberation Mono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Georgia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Liberation Serif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Verdana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Liberation Sans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Trebuchet MS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Liberation Sans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6" name="Shape 202"/>
          <p:cNvSpPr/>
          <p:nvPr/>
        </p:nvSpPr>
        <p:spPr>
          <a:xfrm>
            <a:off x="11407140" y="3236214"/>
            <a:ext cx="3172968" cy="41630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07" name="Text 203"/>
          <p:cNvSpPr/>
          <p:nvPr/>
        </p:nvSpPr>
        <p:spPr>
          <a:xfrm>
            <a:off x="11498580" y="324840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tfl_font_status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  </a:t>
            </a: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resolution</a:t>
            </a:r>
            <a:endParaRPr lang="en-US" sz="750" dirty="0"/>
          </a:p>
        </p:txBody>
      </p:sp>
      <p:sp>
        <p:nvSpPr>
          <p:cNvPr id="208" name="Text 204"/>
          <p:cNvSpPr/>
          <p:nvPr/>
        </p:nvSpPr>
        <p:spPr>
          <a:xfrm>
            <a:off x="11498580" y="336194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tfl_rescan_fonts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 </a:t>
            </a: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rescan after install</a:t>
            </a:r>
            <a:endParaRPr lang="en-US" sz="750" dirty="0"/>
          </a:p>
        </p:txBody>
      </p:sp>
      <p:sp>
        <p:nvSpPr>
          <p:cNvPr id="209" name="Text 205"/>
          <p:cNvSpPr/>
          <p:nvPr/>
        </p:nvSpPr>
        <p:spPr>
          <a:xfrm>
            <a:off x="11498326" y="347472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options(ksTFL.font_dirs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"/custom/fonts"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210" name="Shape 206"/>
          <p:cNvSpPr/>
          <p:nvPr/>
        </p:nvSpPr>
        <p:spPr>
          <a:xfrm>
            <a:off x="11279124" y="3840480"/>
            <a:ext cx="3429000" cy="2788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A6B7A052-D2ED-A817-72D9-D63250D294B3}"/>
              </a:ext>
            </a:extLst>
          </p:cNvPr>
          <p:cNvGrpSpPr/>
          <p:nvPr/>
        </p:nvGrpSpPr>
        <p:grpSpPr>
          <a:xfrm>
            <a:off x="11388852" y="3875532"/>
            <a:ext cx="3209544" cy="310896"/>
            <a:chOff x="11388852" y="3913632"/>
            <a:chExt cx="3209544" cy="310896"/>
          </a:xfrm>
        </p:grpSpPr>
        <p:sp>
          <p:nvSpPr>
            <p:cNvPr id="211" name="Shape 207"/>
            <p:cNvSpPr/>
            <p:nvPr/>
          </p:nvSpPr>
          <p:spPr>
            <a:xfrm>
              <a:off x="11388852" y="3931920"/>
              <a:ext cx="91440" cy="274320"/>
            </a:xfrm>
            <a:prstGeom prst="rect">
              <a:avLst/>
            </a:prstGeom>
            <a:solidFill>
              <a:srgbClr val="6366F1"/>
            </a:solidFill>
            <a:ln/>
          </p:spPr>
        </p:sp>
        <p:sp>
          <p:nvSpPr>
            <p:cNvPr id="212" name="Text 208"/>
            <p:cNvSpPr/>
            <p:nvPr/>
          </p:nvSpPr>
          <p:spPr>
            <a:xfrm>
              <a:off x="11535156" y="391363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6366F1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Anatomy of a TFL_spec</a:t>
              </a:r>
              <a:endParaRPr lang="en-US" sz="1200" dirty="0"/>
            </a:p>
          </p:txBody>
        </p:sp>
      </p:grpSp>
      <p:graphicFrame>
        <p:nvGraphicFramePr>
          <p:cNvPr id="2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07140" y="4206240"/>
          <a:ext cx="3172968" cy="225044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Component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Purpose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Modified By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Metadata &amp; page settings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set_document(), set_page_style()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columns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Column defs &amp; formats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define_cols()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stubColumns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Spanning headers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add_span_header()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headers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Page header (L/C/R)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add_header()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titles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titles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add_title()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subtitles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Secondary titles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add_subtitle()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bodyText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Narrative content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add_body_text()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footnotes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 footnotes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add_footnote()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footers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Page footer (L/C/R)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add_footer()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styles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Named style defs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add_style()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14" name="Shape 209"/>
          <p:cNvSpPr/>
          <p:nvPr/>
        </p:nvSpPr>
        <p:spPr>
          <a:xfrm>
            <a:off x="11279124" y="6766560"/>
            <a:ext cx="34290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EB8BEB40-A777-9019-E0E8-C4CD11AE6A05}"/>
              </a:ext>
            </a:extLst>
          </p:cNvPr>
          <p:cNvGrpSpPr/>
          <p:nvPr/>
        </p:nvGrpSpPr>
        <p:grpSpPr>
          <a:xfrm>
            <a:off x="11388852" y="6782562"/>
            <a:ext cx="3209544" cy="310896"/>
            <a:chOff x="11388852" y="6839712"/>
            <a:chExt cx="3209544" cy="310896"/>
          </a:xfrm>
        </p:grpSpPr>
        <p:sp>
          <p:nvSpPr>
            <p:cNvPr id="215" name="Shape 210"/>
            <p:cNvSpPr/>
            <p:nvPr/>
          </p:nvSpPr>
          <p:spPr>
            <a:xfrm>
              <a:off x="11388852" y="6858000"/>
              <a:ext cx="91440" cy="274320"/>
            </a:xfrm>
            <a:prstGeom prst="rect">
              <a:avLst/>
            </a:prstGeom>
            <a:solidFill>
              <a:srgbClr val="10B981"/>
            </a:solidFill>
            <a:ln/>
          </p:spPr>
        </p:sp>
        <p:sp>
          <p:nvSpPr>
            <p:cNvPr id="216" name="Text 211"/>
            <p:cNvSpPr/>
            <p:nvPr/>
          </p:nvSpPr>
          <p:spPr>
            <a:xfrm>
              <a:off x="11535156" y="683971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0B981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Interactive Tools &amp; Shiny Apps</a:t>
              </a:r>
              <a:endParaRPr lang="en-US" sz="1200" dirty="0"/>
            </a:p>
          </p:txBody>
        </p:sp>
      </p:grpSp>
      <p:sp>
        <p:nvSpPr>
          <p:cNvPr id="217" name="Shape 212"/>
          <p:cNvSpPr/>
          <p:nvPr/>
        </p:nvSpPr>
        <p:spPr>
          <a:xfrm>
            <a:off x="11407140" y="7114032"/>
            <a:ext cx="3172968" cy="119837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8" name="Text 213"/>
          <p:cNvSpPr/>
          <p:nvPr/>
        </p:nvSpPr>
        <p:spPr>
          <a:xfrm>
            <a:off x="11498580" y="716889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Style template editor (Shiny app)</a:t>
            </a:r>
            <a:endParaRPr lang="en-US" sz="750" dirty="0"/>
          </a:p>
        </p:txBody>
      </p:sp>
      <p:sp>
        <p:nvSpPr>
          <p:cNvPr id="219" name="Text 214"/>
          <p:cNvSpPr/>
          <p:nvPr/>
        </p:nvSpPr>
        <p:spPr>
          <a:xfrm>
            <a:off x="11498580" y="731977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run_styles_editor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750" dirty="0"/>
          </a:p>
        </p:txBody>
      </p:sp>
      <p:sp>
        <p:nvSpPr>
          <p:cNvPr id="220" name="Text 215"/>
          <p:cNvSpPr/>
          <p:nvPr/>
        </p:nvSpPr>
        <p:spPr>
          <a:xfrm>
            <a:off x="11498580" y="747064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221" name="Text 216"/>
          <p:cNvSpPr/>
          <p:nvPr/>
        </p:nvSpPr>
        <p:spPr>
          <a:xfrm>
            <a:off x="11498580" y="762152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Re-render browser (Shiny app)</a:t>
            </a:r>
            <a:endParaRPr lang="en-US" sz="750" dirty="0"/>
          </a:p>
        </p:txBody>
      </p:sp>
      <p:sp>
        <p:nvSpPr>
          <p:cNvPr id="222" name="Text 217"/>
          <p:cNvSpPr/>
          <p:nvPr/>
        </p:nvSpPr>
        <p:spPr>
          <a:xfrm>
            <a:off x="11498580" y="777240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run_replay_app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750" dirty="0"/>
          </a:p>
        </p:txBody>
      </p:sp>
      <p:sp>
        <p:nvSpPr>
          <p:cNvPr id="223" name="Text 218"/>
          <p:cNvSpPr/>
          <p:nvPr/>
        </p:nvSpPr>
        <p:spPr>
          <a:xfrm>
            <a:off x="11498580" y="792327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224" name="Text 219"/>
          <p:cNvSpPr/>
          <p:nvPr/>
        </p:nvSpPr>
        <p:spPr>
          <a:xfrm>
            <a:off x="11498580" y="802335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RStudio addin: Preview TFL spec</a:t>
            </a:r>
            <a:endParaRPr lang="en-US" sz="750" dirty="0"/>
          </a:p>
        </p:txBody>
      </p:sp>
      <p:sp>
        <p:nvSpPr>
          <p:cNvPr id="225" name="Text 220"/>
          <p:cNvSpPr/>
          <p:nvPr/>
        </p:nvSpPr>
        <p:spPr>
          <a:xfrm>
            <a:off x="11498580" y="816152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Addins &gt; "Preview TFL Spec"</a:t>
            </a:r>
            <a:endParaRPr lang="en-US" sz="750" dirty="0"/>
          </a:p>
        </p:txBody>
      </p:sp>
      <p:sp>
        <p:nvSpPr>
          <p:cNvPr id="226" name="Shape 221"/>
          <p:cNvSpPr/>
          <p:nvPr/>
        </p:nvSpPr>
        <p:spPr>
          <a:xfrm>
            <a:off x="11279124" y="8503920"/>
            <a:ext cx="3429000" cy="179496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7" name="Shape 222"/>
          <p:cNvSpPr/>
          <p:nvPr/>
        </p:nvSpPr>
        <p:spPr>
          <a:xfrm>
            <a:off x="11388852" y="8595360"/>
            <a:ext cx="91440" cy="2743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28" name="Text 223"/>
          <p:cNvSpPr/>
          <p:nvPr/>
        </p:nvSpPr>
        <p:spPr>
          <a:xfrm>
            <a:off x="11535156" y="857707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Tips &amp; Reminders</a:t>
            </a:r>
            <a:endParaRPr lang="en-US" sz="1200" dirty="0"/>
          </a:p>
        </p:txBody>
      </p:sp>
      <p:sp>
        <p:nvSpPr>
          <p:cNvPr id="229" name="Text 224"/>
          <p:cNvSpPr/>
          <p:nvPr/>
        </p:nvSpPr>
        <p:spPr>
          <a:xfrm>
            <a:off x="11407140" y="8869680"/>
            <a:ext cx="3172968" cy="1337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named styles + f_combine() — never inspect spec internals</a:t>
            </a:r>
            <a:endParaRPr lang="en-US" sz="7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print(spec) and print(report) for concise previews</a:t>
            </a:r>
            <a:endParaRPr lang="en-US" sz="7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metaPath = tempdir() for quick experiments</a:t>
            </a:r>
            <a:endParaRPr lang="en-US" sz="7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tfl_set_options() for consistent headers/footers across specs</a:t>
            </a:r>
            <a:endParaRPr lang="en-US" sz="7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s_* helpers ONLY work inside add_style()</a:t>
            </a:r>
            <a:endParaRPr lang="en-US" sz="7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Condition helpers ONLY work inside compute_cols()</a:t>
            </a:r>
            <a:endParaRPr lang="en-US" sz="7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compute_cols() calls accumulate &amp; merge</a:t>
            </a:r>
            <a:endParaRPr lang="en-US" sz="7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autoColWidth = TRUE (default) auto-adjusts widths</a:t>
            </a:r>
            <a:endParaRPr lang="en-US" sz="700" dirty="0"/>
          </a:p>
        </p:txBody>
      </p:sp>
      <p:sp>
        <p:nvSpPr>
          <p:cNvPr id="230" name="Shape 225"/>
          <p:cNvSpPr/>
          <p:nvPr/>
        </p:nvSpPr>
        <p:spPr>
          <a:xfrm>
            <a:off x="0" y="10372039"/>
            <a:ext cx="15119604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1" name="Text 226"/>
          <p:cNvSpPr/>
          <p:nvPr/>
        </p:nvSpPr>
        <p:spPr>
          <a:xfrm>
            <a:off x="411480" y="10390327"/>
            <a:ext cx="142966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 err="1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ksTFL</a:t>
            </a: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v0.11.x  •  Clinical TFL Framework  •  GPL-3  •  Igor Aleschenkov &amp; Vladimir Larchenko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2970</Words>
  <Application>Microsoft Macintosh PowerPoint</Application>
  <PresentationFormat>Custom</PresentationFormat>
  <Paragraphs>377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Consolas</vt:lpstr>
      <vt:lpstr>Segoe UI</vt:lpstr>
      <vt:lpstr>Segoe UI Symbol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ksTFL Cheat Sheet</dc:title>
  <dc:subject>Clinical TFL Framework — Quick Reference</dc:subject>
  <dc:creator>ksTFL Team</dc:creator>
  <cp:lastModifiedBy>Vladimir Larchenko (KeyStat)</cp:lastModifiedBy>
  <cp:revision>6</cp:revision>
  <dcterms:created xsi:type="dcterms:W3CDTF">2026-03-20T06:26:31Z</dcterms:created>
  <dcterms:modified xsi:type="dcterms:W3CDTF">2026-06-17T16:58:26Z</dcterms:modified>
</cp:coreProperties>
</file>